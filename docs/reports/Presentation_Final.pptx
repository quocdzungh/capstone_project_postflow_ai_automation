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Arial Bold" charset="1" panose="020B0704020202020204"/>
      <p:regular r:id="rId39"/>
    </p:embeddedFont>
    <p:embeddedFont>
      <p:font typeface="Arial" charset="1" panose="020B0604020202020204"/>
      <p:regular r:id="rId40"/>
    </p:embeddedFont>
    <p:embeddedFont>
      <p:font typeface="Calibri (MS) Bold" charset="1" panose="020F0702030404030204"/>
      <p:regular r:id="rId51"/>
    </p:embeddedFont>
    <p:embeddedFont>
      <p:font typeface="Calibri (MS)" charset="1" panose="020F0502020204030204"/>
      <p:regular r:id="rId52"/>
    </p:embeddedFont>
    <p:embeddedFont>
      <p:font typeface="Calibri (MS) Italics" charset="1" panose="020F05020202040A0204"/>
      <p:regular r:id="rId53"/>
    </p:embeddedFont>
    <p:embeddedFont>
      <p:font typeface="Canva Sans" charset="1" panose="020B0503030501040103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notesSlides/notesSlide3.xml" Type="http://schemas.openxmlformats.org/officeDocument/2006/relationships/notesSlide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notesSlides/notesSlide12.xml" Type="http://schemas.openxmlformats.org/officeDocument/2006/relationships/notesSlide"/><Relationship Id="rId55" Target="notesSlides/notesSlide13.xml" Type="http://schemas.openxmlformats.org/officeDocument/2006/relationships/notesSlide"/><Relationship Id="rId56" Target="notesSlides/notesSlide14.xml" Type="http://schemas.openxmlformats.org/officeDocument/2006/relationships/notesSlide"/><Relationship Id="rId57" Target="notesSlides/notesSlide15.xml" Type="http://schemas.openxmlformats.org/officeDocument/2006/relationships/notesSlide"/><Relationship Id="rId58" Target="notesSlides/notesSlide16.xml" Type="http://schemas.openxmlformats.org/officeDocument/2006/relationships/notesSlide"/><Relationship Id="rId59" Target="notesSlides/notesSlide17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notesSlides/notesSlide18.xml" Type="http://schemas.openxmlformats.org/officeDocument/2006/relationships/notesSlide"/><Relationship Id="rId62" Target="notesSlides/notesSlide19.xml" Type="http://schemas.openxmlformats.org/officeDocument/2006/relationships/notesSlide"/><Relationship Id="rId63" Target="notesSlides/notesSlide20.xml" Type="http://schemas.openxmlformats.org/officeDocument/2006/relationships/notesSlide"/><Relationship Id="rId64" Target="notesSlides/notesSlide21.xml" Type="http://schemas.openxmlformats.org/officeDocument/2006/relationships/notesSlide"/><Relationship Id="rId65" Target="notesSlides/notesSlide22.xml" Type="http://schemas.openxmlformats.org/officeDocument/2006/relationships/notesSlide"/><Relationship Id="rId66" Target="notesSlides/notesSlide23.xml" Type="http://schemas.openxmlformats.org/officeDocument/2006/relationships/notesSlide"/><Relationship Id="rId67" Target="notesSlides/notesSlide24.xml" Type="http://schemas.openxmlformats.org/officeDocument/2006/relationships/notesSlide"/><Relationship Id="rId68" Target="notesSlides/notesSlide25.xml" Type="http://schemas.openxmlformats.org/officeDocument/2006/relationships/notesSlide"/><Relationship Id="rId69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7.xml" Type="http://schemas.openxmlformats.org/officeDocument/2006/relationships/notesSlide"/><Relationship Id="rId71" Target="notesSlides/notesSlide28.xml" Type="http://schemas.openxmlformats.org/officeDocument/2006/relationships/notesSlide"/><Relationship Id="rId72" Target="notesSlides/notesSlide29.xml" Type="http://schemas.openxmlformats.org/officeDocument/2006/relationships/notesSlide"/><Relationship Id="rId73" Target="notesSlides/notesSlide30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25.jpe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2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27.png" Type="http://schemas.openxmlformats.org/officeDocument/2006/relationships/image"/><Relationship Id="rId5" Target="../media/image2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8.png" Type="http://schemas.openxmlformats.org/officeDocument/2006/relationships/image"/><Relationship Id="rId4" Target="../media/image1.jpe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33.jpe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Relationship Id="rId4" Target="../media/image36.jpe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39.jpe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https://drive.google.com/file/d/1yDVBgG-wzBc2yyfo4_nTqC1iMMVrmL3X/view?usp=drive_link" TargetMode="External" Type="http://schemas.openxmlformats.org/officeDocument/2006/relationships/hyperlink"/><Relationship Id="rId7" Target="https://drive.google.com/file/d/1aIfSUaA24AXP_08xhlZ3bRxGGOMzlYro/view?usp=drive_link" TargetMode="External" Type="http://schemas.openxmlformats.org/officeDocument/2006/relationships/hyperlink"/><Relationship Id="rId8" Target="https://drive.google.com/file/d/1aIfSUaA24AXP_08xhlZ3bRxGGOMzlYro/view?usp=drive_link" TargetMode="External" Type="http://schemas.openxmlformats.org/officeDocument/2006/relationships/hyperlink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495" y="2391376"/>
            <a:ext cx="17697011" cy="2551767"/>
            <a:chOff x="0" y="0"/>
            <a:chExt cx="23596014" cy="34023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96019" cy="3402353"/>
            </a:xfrm>
            <a:custGeom>
              <a:avLst/>
              <a:gdLst/>
              <a:ahLst/>
              <a:cxnLst/>
              <a:rect r="r" b="b" t="t" l="l"/>
              <a:pathLst>
                <a:path h="3402353" w="23596019">
                  <a:moveTo>
                    <a:pt x="0" y="0"/>
                  </a:moveTo>
                  <a:lnTo>
                    <a:pt x="23596019" y="0"/>
                  </a:lnTo>
                  <a:lnTo>
                    <a:pt x="23596019" y="3402353"/>
                  </a:lnTo>
                  <a:lnTo>
                    <a:pt x="0" y="34023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756" r="18447" b="-806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42875"/>
              <a:ext cx="23596014" cy="32594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296"/>
                </a:lnSpc>
              </a:pPr>
              <a:r>
                <a:rPr lang="en-US" sz="76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Designing an AI-Integrated Automation System for Post Offices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8460">
            <a:off x="1499245" y="5707351"/>
            <a:ext cx="15503747" cy="0"/>
          </a:xfrm>
          <a:prstGeom prst="line">
            <a:avLst/>
          </a:prstGeom>
          <a:ln cap="rnd" w="19050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671122" y="317449"/>
            <a:ext cx="2945756" cy="1147858"/>
            <a:chOff x="0" y="0"/>
            <a:chExt cx="3112872" cy="12129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12897" cy="1212977"/>
            </a:xfrm>
            <a:custGeom>
              <a:avLst/>
              <a:gdLst/>
              <a:ahLst/>
              <a:cxnLst/>
              <a:rect r="r" b="b" t="t" l="l"/>
              <a:pathLst>
                <a:path h="1212977" w="3112897">
                  <a:moveTo>
                    <a:pt x="0" y="0"/>
                  </a:moveTo>
                  <a:lnTo>
                    <a:pt x="3112897" y="0"/>
                  </a:lnTo>
                  <a:lnTo>
                    <a:pt x="3112897" y="1212977"/>
                  </a:lnTo>
                  <a:lnTo>
                    <a:pt x="0" y="121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rot="7140">
            <a:off x="-19069" y="1608163"/>
            <a:ext cx="18326138" cy="0"/>
          </a:xfrm>
          <a:prstGeom prst="line">
            <a:avLst/>
          </a:prstGeom>
          <a:ln cap="rnd" w="19050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499268" y="6164578"/>
            <a:ext cx="6890061" cy="3612576"/>
            <a:chOff x="0" y="0"/>
            <a:chExt cx="9186748" cy="4816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86672" cy="4816616"/>
            </a:xfrm>
            <a:custGeom>
              <a:avLst/>
              <a:gdLst/>
              <a:ahLst/>
              <a:cxnLst/>
              <a:rect r="r" b="b" t="t" l="l"/>
              <a:pathLst>
                <a:path h="4816616" w="9186672">
                  <a:moveTo>
                    <a:pt x="0" y="345379"/>
                  </a:moveTo>
                  <a:cubicBezTo>
                    <a:pt x="0" y="154625"/>
                    <a:pt x="77724" y="0"/>
                    <a:pt x="173609" y="0"/>
                  </a:cubicBezTo>
                  <a:lnTo>
                    <a:pt x="9013063" y="0"/>
                  </a:lnTo>
                  <a:cubicBezTo>
                    <a:pt x="9108948" y="0"/>
                    <a:pt x="9186672" y="154625"/>
                    <a:pt x="9186672" y="345379"/>
                  </a:cubicBezTo>
                  <a:lnTo>
                    <a:pt x="9186672" y="4471236"/>
                  </a:lnTo>
                  <a:cubicBezTo>
                    <a:pt x="9186672" y="4661991"/>
                    <a:pt x="9108948" y="4816616"/>
                    <a:pt x="9013063" y="4816616"/>
                  </a:cubicBezTo>
                  <a:lnTo>
                    <a:pt x="173609" y="4816616"/>
                  </a:lnTo>
                  <a:cubicBezTo>
                    <a:pt x="77724" y="4816818"/>
                    <a:pt x="0" y="4661991"/>
                    <a:pt x="0" y="4471236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186748" cy="4835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98680" y="6144863"/>
            <a:ext cx="7104288" cy="3612576"/>
            <a:chOff x="0" y="0"/>
            <a:chExt cx="9472384" cy="4816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72422" cy="4816818"/>
            </a:xfrm>
            <a:custGeom>
              <a:avLst/>
              <a:gdLst/>
              <a:ahLst/>
              <a:cxnLst/>
              <a:rect r="r" b="b" t="t" l="l"/>
              <a:pathLst>
                <a:path h="4816818" w="9472422">
                  <a:moveTo>
                    <a:pt x="0" y="153477"/>
                  </a:moveTo>
                  <a:cubicBezTo>
                    <a:pt x="0" y="68759"/>
                    <a:pt x="72771" y="0"/>
                    <a:pt x="162433" y="0"/>
                  </a:cubicBezTo>
                  <a:lnTo>
                    <a:pt x="9309989" y="0"/>
                  </a:lnTo>
                  <a:cubicBezTo>
                    <a:pt x="9399651" y="0"/>
                    <a:pt x="9472422" y="68759"/>
                    <a:pt x="9472422" y="153477"/>
                  </a:cubicBezTo>
                  <a:lnTo>
                    <a:pt x="9472422" y="4663339"/>
                  </a:lnTo>
                  <a:cubicBezTo>
                    <a:pt x="9472422" y="4748057"/>
                    <a:pt x="9399651" y="4816818"/>
                    <a:pt x="9309989" y="4816818"/>
                  </a:cubicBezTo>
                  <a:lnTo>
                    <a:pt x="162433" y="4816818"/>
                  </a:lnTo>
                  <a:cubicBezTo>
                    <a:pt x="72771" y="4816818"/>
                    <a:pt x="0" y="4748057"/>
                    <a:pt x="0" y="46633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472384" cy="483581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  <a:p>
              <a:pPr algn="l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47017" y="8325932"/>
            <a:ext cx="1431506" cy="1431506"/>
            <a:chOff x="0" y="0"/>
            <a:chExt cx="2438400" cy="243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78143" y="8325932"/>
            <a:ext cx="1366647" cy="1431506"/>
            <a:chOff x="0" y="0"/>
            <a:chExt cx="1822196" cy="19086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22196" cy="1908675"/>
            </a:xfrm>
            <a:custGeom>
              <a:avLst/>
              <a:gdLst/>
              <a:ahLst/>
              <a:cxnLst/>
              <a:rect r="r" b="b" t="t" l="l"/>
              <a:pathLst>
                <a:path h="1908675" w="1822196">
                  <a:moveTo>
                    <a:pt x="0" y="0"/>
                  </a:moveTo>
                  <a:lnTo>
                    <a:pt x="1822196" y="0"/>
                  </a:lnTo>
                  <a:lnTo>
                    <a:pt x="1822196" y="1908675"/>
                  </a:lnTo>
                  <a:lnTo>
                    <a:pt x="0" y="1908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72" t="0" r="-2372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050749" y="6462081"/>
            <a:ext cx="205554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</a:t>
            </a: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ervisor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79161" y="7165128"/>
            <a:ext cx="4679024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MEng</a:t>
            </a: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Nguyen Thi Hoang Yen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898680" y="6462081"/>
            <a:ext cx="2227558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26239" y="7047042"/>
            <a:ext cx="4518687" cy="248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Huy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Anh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Hoang Quoc Dung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Thanh Hung 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 Nhat Minh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04" y="2979134"/>
            <a:ext cx="17639338" cy="1148908"/>
            <a:chOff x="0" y="0"/>
            <a:chExt cx="23519117" cy="15318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19130" cy="1531877"/>
            </a:xfrm>
            <a:custGeom>
              <a:avLst/>
              <a:gdLst/>
              <a:ahLst/>
              <a:cxnLst/>
              <a:rect r="r" b="b" t="t" l="l"/>
              <a:pathLst>
                <a:path h="1531877" w="2351913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3409275" y="0"/>
                  </a:lnTo>
                  <a:cubicBezTo>
                    <a:pt x="23469981" y="0"/>
                    <a:pt x="23519130" y="49149"/>
                    <a:pt x="23519130" y="109855"/>
                  </a:cubicBezTo>
                  <a:lnTo>
                    <a:pt x="23519130" y="1422022"/>
                  </a:lnTo>
                  <a:cubicBezTo>
                    <a:pt x="23519130" y="1482728"/>
                    <a:pt x="23469981" y="1531877"/>
                    <a:pt x="23409275" y="1531877"/>
                  </a:cubicBezTo>
                  <a:lnTo>
                    <a:pt x="109855" y="1531877"/>
                  </a:lnTo>
                  <a:cubicBezTo>
                    <a:pt x="49149" y="1531877"/>
                    <a:pt x="0" y="1482728"/>
                    <a:pt x="0" y="1422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3519117" cy="156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8229" y="84982"/>
            <a:ext cx="9165469" cy="1654435"/>
            <a:chOff x="0" y="0"/>
            <a:chExt cx="12220626" cy="2205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2205917"/>
            </a:xfrm>
            <a:custGeom>
              <a:avLst/>
              <a:gdLst/>
              <a:ahLst/>
              <a:cxnLst/>
              <a:rect r="r" b="b" t="t" l="l"/>
              <a:pathLst>
                <a:path h="2205917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2205917"/>
                  </a:lnTo>
                  <a:lnTo>
                    <a:pt x="0" y="22059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24" r="0" b="-4996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205351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 of Contents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9179" y="1583426"/>
            <a:ext cx="17658388" cy="1088354"/>
            <a:chOff x="0" y="0"/>
            <a:chExt cx="23544517" cy="14511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544530" cy="1451100"/>
            </a:xfrm>
            <a:custGeom>
              <a:avLst/>
              <a:gdLst/>
              <a:ahLst/>
              <a:cxnLst/>
              <a:rect r="r" b="b" t="t" l="l"/>
              <a:pathLst>
                <a:path h="1451100" w="23544530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23440517" y="0"/>
                  </a:lnTo>
                  <a:cubicBezTo>
                    <a:pt x="23498048" y="0"/>
                    <a:pt x="23544530" y="46609"/>
                    <a:pt x="23544530" y="104013"/>
                  </a:cubicBezTo>
                  <a:lnTo>
                    <a:pt x="23544530" y="1347088"/>
                  </a:lnTo>
                  <a:cubicBezTo>
                    <a:pt x="23544530" y="1404619"/>
                    <a:pt x="23497921" y="1451100"/>
                    <a:pt x="23440517" y="1451100"/>
                  </a:cubicBezTo>
                  <a:lnTo>
                    <a:pt x="104013" y="1451100"/>
                  </a:lnTo>
                  <a:cubicBezTo>
                    <a:pt x="46482" y="1451100"/>
                    <a:pt x="0" y="1404492"/>
                    <a:pt x="0" y="1347088"/>
                  </a:cubicBezTo>
                  <a:close/>
                </a:path>
              </a:pathLst>
            </a:custGeom>
            <a:solidFill>
              <a:srgbClr val="FEF7E2"/>
            </a:solidFill>
            <a:ln w="38100" cap="sq">
              <a:solidFill>
                <a:srgbClr val="F9DFB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3544517" cy="1470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919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presentation is organized into </a:t>
              </a:r>
              <a:r>
                <a:rPr lang="en-US" sz="2799" b="true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 main sections.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8704" y="4402569"/>
            <a:ext cx="17639338" cy="1148908"/>
            <a:chOff x="0" y="0"/>
            <a:chExt cx="23519117" cy="153187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519130" cy="1531877"/>
            </a:xfrm>
            <a:custGeom>
              <a:avLst/>
              <a:gdLst/>
              <a:ahLst/>
              <a:cxnLst/>
              <a:rect r="r" b="b" t="t" l="l"/>
              <a:pathLst>
                <a:path h="1531877" w="2351913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3409275" y="0"/>
                  </a:lnTo>
                  <a:cubicBezTo>
                    <a:pt x="23469981" y="0"/>
                    <a:pt x="23519130" y="49149"/>
                    <a:pt x="23519130" y="109855"/>
                  </a:cubicBezTo>
                  <a:lnTo>
                    <a:pt x="23519130" y="1422022"/>
                  </a:lnTo>
                  <a:cubicBezTo>
                    <a:pt x="23519130" y="1482728"/>
                    <a:pt x="23469981" y="1531877"/>
                    <a:pt x="23409275" y="1531877"/>
                  </a:cubicBezTo>
                  <a:lnTo>
                    <a:pt x="109855" y="1531877"/>
                  </a:lnTo>
                  <a:cubicBezTo>
                    <a:pt x="49149" y="1531877"/>
                    <a:pt x="0" y="1482728"/>
                    <a:pt x="0" y="1422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519117" cy="156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3702" y="5826013"/>
            <a:ext cx="17639338" cy="1148908"/>
            <a:chOff x="0" y="0"/>
            <a:chExt cx="23519117" cy="15318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519130" cy="1531877"/>
            </a:xfrm>
            <a:custGeom>
              <a:avLst/>
              <a:gdLst/>
              <a:ahLst/>
              <a:cxnLst/>
              <a:rect r="r" b="b" t="t" l="l"/>
              <a:pathLst>
                <a:path h="1531877" w="2351913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3409275" y="0"/>
                  </a:lnTo>
                  <a:cubicBezTo>
                    <a:pt x="23469981" y="0"/>
                    <a:pt x="23519130" y="49149"/>
                    <a:pt x="23519130" y="109855"/>
                  </a:cubicBezTo>
                  <a:lnTo>
                    <a:pt x="23519130" y="1422022"/>
                  </a:lnTo>
                  <a:cubicBezTo>
                    <a:pt x="23519130" y="1482728"/>
                    <a:pt x="23469981" y="1531877"/>
                    <a:pt x="23409275" y="1531877"/>
                  </a:cubicBezTo>
                  <a:lnTo>
                    <a:pt x="109855" y="1531877"/>
                  </a:lnTo>
                  <a:cubicBezTo>
                    <a:pt x="49149" y="1531877"/>
                    <a:pt x="0" y="1482728"/>
                    <a:pt x="0" y="1422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3519117" cy="156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8704" y="7249449"/>
            <a:ext cx="17639338" cy="1148908"/>
            <a:chOff x="0" y="0"/>
            <a:chExt cx="23519117" cy="15318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19130" cy="1531877"/>
            </a:xfrm>
            <a:custGeom>
              <a:avLst/>
              <a:gdLst/>
              <a:ahLst/>
              <a:cxnLst/>
              <a:rect r="r" b="b" t="t" l="l"/>
              <a:pathLst>
                <a:path h="1531877" w="2351913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3409275" y="0"/>
                  </a:lnTo>
                  <a:cubicBezTo>
                    <a:pt x="23469981" y="0"/>
                    <a:pt x="23519130" y="49149"/>
                    <a:pt x="23519130" y="109855"/>
                  </a:cubicBezTo>
                  <a:lnTo>
                    <a:pt x="23519130" y="1422022"/>
                  </a:lnTo>
                  <a:cubicBezTo>
                    <a:pt x="23519130" y="1482728"/>
                    <a:pt x="23469981" y="1531877"/>
                    <a:pt x="23409275" y="1531877"/>
                  </a:cubicBezTo>
                  <a:lnTo>
                    <a:pt x="109855" y="1531877"/>
                  </a:lnTo>
                  <a:cubicBezTo>
                    <a:pt x="49149" y="1531877"/>
                    <a:pt x="0" y="1482728"/>
                    <a:pt x="0" y="1422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3519117" cy="156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8704" y="8672884"/>
            <a:ext cx="17639338" cy="1148908"/>
            <a:chOff x="0" y="0"/>
            <a:chExt cx="23519117" cy="15318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519130" cy="1531877"/>
            </a:xfrm>
            <a:custGeom>
              <a:avLst/>
              <a:gdLst/>
              <a:ahLst/>
              <a:cxnLst/>
              <a:rect r="r" b="b" t="t" l="l"/>
              <a:pathLst>
                <a:path h="1531877" w="2351913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lnTo>
                    <a:pt x="23409275" y="0"/>
                  </a:lnTo>
                  <a:cubicBezTo>
                    <a:pt x="23469981" y="0"/>
                    <a:pt x="23519130" y="49149"/>
                    <a:pt x="23519130" y="109855"/>
                  </a:cubicBezTo>
                  <a:lnTo>
                    <a:pt x="23519130" y="1422022"/>
                  </a:lnTo>
                  <a:cubicBezTo>
                    <a:pt x="23519130" y="1482728"/>
                    <a:pt x="23469981" y="1531877"/>
                    <a:pt x="23409275" y="1531877"/>
                  </a:cubicBezTo>
                  <a:lnTo>
                    <a:pt x="109855" y="1531877"/>
                  </a:lnTo>
                  <a:cubicBezTo>
                    <a:pt x="49149" y="1531877"/>
                    <a:pt x="0" y="1482728"/>
                    <a:pt x="0" y="14220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3519117" cy="1560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3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17411" y="3242224"/>
            <a:ext cx="659559" cy="750565"/>
            <a:chOff x="0" y="0"/>
            <a:chExt cx="879412" cy="10007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9348" cy="1000753"/>
            </a:xfrm>
            <a:custGeom>
              <a:avLst/>
              <a:gdLst/>
              <a:ahLst/>
              <a:cxnLst/>
              <a:rect r="r" b="b" t="t" l="l"/>
              <a:pathLst>
                <a:path h="1000753" w="879348">
                  <a:moveTo>
                    <a:pt x="0" y="500377"/>
                  </a:moveTo>
                  <a:cubicBezTo>
                    <a:pt x="0" y="223968"/>
                    <a:pt x="196850" y="0"/>
                    <a:pt x="439674" y="0"/>
                  </a:cubicBezTo>
                  <a:cubicBezTo>
                    <a:pt x="682498" y="0"/>
                    <a:pt x="879348" y="223968"/>
                    <a:pt x="879348" y="500377"/>
                  </a:cubicBezTo>
                  <a:cubicBezTo>
                    <a:pt x="879348" y="776785"/>
                    <a:pt x="682498" y="1000753"/>
                    <a:pt x="439674" y="1000753"/>
                  </a:cubicBezTo>
                  <a:cubicBezTo>
                    <a:pt x="196850" y="1000753"/>
                    <a:pt x="0" y="776785"/>
                    <a:pt x="0" y="500377"/>
                  </a:cubicBezTo>
                  <a:close/>
                </a:path>
              </a:pathLst>
            </a:custGeom>
            <a:solidFill>
              <a:srgbClr val="082260"/>
            </a:solidFill>
            <a:ln w="5080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879412" cy="1019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17411" y="4668431"/>
            <a:ext cx="659559" cy="750565"/>
            <a:chOff x="0" y="0"/>
            <a:chExt cx="879412" cy="10007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79348" cy="1000753"/>
            </a:xfrm>
            <a:custGeom>
              <a:avLst/>
              <a:gdLst/>
              <a:ahLst/>
              <a:cxnLst/>
              <a:rect r="r" b="b" t="t" l="l"/>
              <a:pathLst>
                <a:path h="1000753" w="879348">
                  <a:moveTo>
                    <a:pt x="0" y="500377"/>
                  </a:moveTo>
                  <a:cubicBezTo>
                    <a:pt x="0" y="223968"/>
                    <a:pt x="196850" y="0"/>
                    <a:pt x="439674" y="0"/>
                  </a:cubicBezTo>
                  <a:cubicBezTo>
                    <a:pt x="682498" y="0"/>
                    <a:pt x="879348" y="223968"/>
                    <a:pt x="879348" y="500377"/>
                  </a:cubicBezTo>
                  <a:cubicBezTo>
                    <a:pt x="879348" y="776785"/>
                    <a:pt x="682498" y="1000753"/>
                    <a:pt x="439674" y="1000753"/>
                  </a:cubicBezTo>
                  <a:cubicBezTo>
                    <a:pt x="196850" y="1000753"/>
                    <a:pt x="0" y="776785"/>
                    <a:pt x="0" y="500377"/>
                  </a:cubicBezTo>
                  <a:close/>
                </a:path>
              </a:pathLst>
            </a:custGeom>
            <a:solidFill>
              <a:srgbClr val="082260"/>
            </a:solidFill>
            <a:ln w="5080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879412" cy="1019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17411" y="6085094"/>
            <a:ext cx="659559" cy="750565"/>
            <a:chOff x="0" y="0"/>
            <a:chExt cx="879412" cy="100075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79348" cy="1000753"/>
            </a:xfrm>
            <a:custGeom>
              <a:avLst/>
              <a:gdLst/>
              <a:ahLst/>
              <a:cxnLst/>
              <a:rect r="r" b="b" t="t" l="l"/>
              <a:pathLst>
                <a:path h="1000753" w="879348">
                  <a:moveTo>
                    <a:pt x="0" y="500377"/>
                  </a:moveTo>
                  <a:cubicBezTo>
                    <a:pt x="0" y="223968"/>
                    <a:pt x="196850" y="0"/>
                    <a:pt x="439674" y="0"/>
                  </a:cubicBezTo>
                  <a:cubicBezTo>
                    <a:pt x="682498" y="0"/>
                    <a:pt x="879348" y="223968"/>
                    <a:pt x="879348" y="500377"/>
                  </a:cubicBezTo>
                  <a:cubicBezTo>
                    <a:pt x="879348" y="776785"/>
                    <a:pt x="682498" y="1000753"/>
                    <a:pt x="439674" y="1000753"/>
                  </a:cubicBezTo>
                  <a:cubicBezTo>
                    <a:pt x="196850" y="1000753"/>
                    <a:pt x="0" y="776785"/>
                    <a:pt x="0" y="500377"/>
                  </a:cubicBezTo>
                  <a:close/>
                </a:path>
              </a:pathLst>
            </a:custGeom>
            <a:solidFill>
              <a:srgbClr val="082260"/>
            </a:solidFill>
            <a:ln w="5080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879412" cy="1019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17411" y="7508529"/>
            <a:ext cx="659559" cy="750565"/>
            <a:chOff x="0" y="0"/>
            <a:chExt cx="879412" cy="10007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9348" cy="1000753"/>
            </a:xfrm>
            <a:custGeom>
              <a:avLst/>
              <a:gdLst/>
              <a:ahLst/>
              <a:cxnLst/>
              <a:rect r="r" b="b" t="t" l="l"/>
              <a:pathLst>
                <a:path h="1000753" w="879348">
                  <a:moveTo>
                    <a:pt x="0" y="500377"/>
                  </a:moveTo>
                  <a:cubicBezTo>
                    <a:pt x="0" y="223968"/>
                    <a:pt x="196850" y="0"/>
                    <a:pt x="439674" y="0"/>
                  </a:cubicBezTo>
                  <a:cubicBezTo>
                    <a:pt x="682498" y="0"/>
                    <a:pt x="879348" y="223968"/>
                    <a:pt x="879348" y="500377"/>
                  </a:cubicBezTo>
                  <a:cubicBezTo>
                    <a:pt x="879348" y="776785"/>
                    <a:pt x="682498" y="1000753"/>
                    <a:pt x="439674" y="1000753"/>
                  </a:cubicBezTo>
                  <a:cubicBezTo>
                    <a:pt x="196850" y="1000753"/>
                    <a:pt x="0" y="776785"/>
                    <a:pt x="0" y="500377"/>
                  </a:cubicBezTo>
                  <a:close/>
                </a:path>
              </a:pathLst>
            </a:custGeom>
            <a:solidFill>
              <a:srgbClr val="082260"/>
            </a:solidFill>
            <a:ln w="5080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79412" cy="1019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17411" y="8931964"/>
            <a:ext cx="659559" cy="750565"/>
            <a:chOff x="0" y="0"/>
            <a:chExt cx="879412" cy="10007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79348" cy="1000753"/>
            </a:xfrm>
            <a:custGeom>
              <a:avLst/>
              <a:gdLst/>
              <a:ahLst/>
              <a:cxnLst/>
              <a:rect r="r" b="b" t="t" l="l"/>
              <a:pathLst>
                <a:path h="1000753" w="879348">
                  <a:moveTo>
                    <a:pt x="0" y="500377"/>
                  </a:moveTo>
                  <a:cubicBezTo>
                    <a:pt x="0" y="223968"/>
                    <a:pt x="196850" y="0"/>
                    <a:pt x="439674" y="0"/>
                  </a:cubicBezTo>
                  <a:cubicBezTo>
                    <a:pt x="682498" y="0"/>
                    <a:pt x="879348" y="223968"/>
                    <a:pt x="879348" y="500377"/>
                  </a:cubicBezTo>
                  <a:cubicBezTo>
                    <a:pt x="879348" y="776785"/>
                    <a:pt x="682498" y="1000753"/>
                    <a:pt x="439674" y="1000753"/>
                  </a:cubicBezTo>
                  <a:cubicBezTo>
                    <a:pt x="196850" y="1000753"/>
                    <a:pt x="0" y="776785"/>
                    <a:pt x="0" y="500377"/>
                  </a:cubicBezTo>
                  <a:close/>
                </a:path>
              </a:pathLst>
            </a:custGeom>
            <a:solidFill>
              <a:srgbClr val="082260"/>
            </a:solidFill>
            <a:ln w="5080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79412" cy="1019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5319120">
            <a:off x="8272805" y="3504762"/>
            <a:ext cx="809549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5319120">
            <a:off x="8272805" y="4946856"/>
            <a:ext cx="809549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5319120">
            <a:off x="8272805" y="9273140"/>
            <a:ext cx="809549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5319120">
            <a:off x="8272805" y="6388951"/>
            <a:ext cx="809549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5319120">
            <a:off x="8272805" y="7831045"/>
            <a:ext cx="809549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8895626" y="3066869"/>
            <a:ext cx="638852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context, P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roblem statement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895626" y="4499031"/>
            <a:ext cx="63885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Background, Related work, Research gap, and Proposed solution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895626" y="5897166"/>
            <a:ext cx="63885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usiness process analysis, Overall framework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895626" y="7412096"/>
            <a:ext cx="663268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mmary of quantitative results, Dataset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895626" y="8750903"/>
            <a:ext cx="663268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Discussion, Limitation and Future research directions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6540229" y="4498658"/>
            <a:ext cx="914400" cy="914400"/>
            <a:chOff x="0" y="0"/>
            <a:chExt cx="121920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540229" y="3106217"/>
            <a:ext cx="914400" cy="914400"/>
            <a:chOff x="0" y="0"/>
            <a:chExt cx="121920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540229" y="5936513"/>
            <a:ext cx="914400" cy="914400"/>
            <a:chOff x="0" y="0"/>
            <a:chExt cx="121920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6540229" y="7366702"/>
            <a:ext cx="914400" cy="914400"/>
            <a:chOff x="0" y="0"/>
            <a:chExt cx="121920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6540220" y="8790137"/>
            <a:ext cx="914400" cy="914400"/>
            <a:chOff x="0" y="0"/>
            <a:chExt cx="1219200" cy="1219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330548" y="3273530"/>
            <a:ext cx="2679787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troduction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30548" y="7481320"/>
            <a:ext cx="5283857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Experimen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ts and Results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30548" y="6094402"/>
            <a:ext cx="2969927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thodology 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30548" y="4674124"/>
            <a:ext cx="382483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terature Review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94896" y="8865082"/>
            <a:ext cx="625236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and Future Works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610668"/>
            <a:ext cx="6794621" cy="667986"/>
            <a:chOff x="0" y="0"/>
            <a:chExt cx="9059494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59418" cy="890648"/>
            </a:xfrm>
            <a:custGeom>
              <a:avLst/>
              <a:gdLst/>
              <a:ahLst/>
              <a:cxnLst/>
              <a:rect r="r" b="b" t="t" l="l"/>
              <a:pathLst>
                <a:path h="890648" w="9059418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8936101" y="0"/>
                  </a:lnTo>
                  <a:cubicBezTo>
                    <a:pt x="9004173" y="0"/>
                    <a:pt x="9059418" y="55245"/>
                    <a:pt x="9059418" y="123317"/>
                  </a:cubicBezTo>
                  <a:lnTo>
                    <a:pt x="9059418" y="767331"/>
                  </a:lnTo>
                  <a:cubicBezTo>
                    <a:pt x="9059418" y="835403"/>
                    <a:pt x="9004173" y="890648"/>
                    <a:pt x="8936101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059494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1.1 Introduction – Business Context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8713" y="2434514"/>
            <a:ext cx="12057155" cy="1613840"/>
            <a:chOff x="0" y="0"/>
            <a:chExt cx="16076206" cy="21517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76168" cy="2151761"/>
            </a:xfrm>
            <a:custGeom>
              <a:avLst/>
              <a:gdLst/>
              <a:ahLst/>
              <a:cxnLst/>
              <a:rect r="r" b="b" t="t" l="l"/>
              <a:pathLst>
                <a:path h="2151761" w="16076168">
                  <a:moveTo>
                    <a:pt x="0" y="96266"/>
                  </a:moveTo>
                  <a:cubicBezTo>
                    <a:pt x="0" y="43053"/>
                    <a:pt x="43053" y="0"/>
                    <a:pt x="96266" y="0"/>
                  </a:cubicBezTo>
                  <a:lnTo>
                    <a:pt x="15979902" y="0"/>
                  </a:lnTo>
                  <a:cubicBezTo>
                    <a:pt x="16033114" y="0"/>
                    <a:pt x="16076168" y="43053"/>
                    <a:pt x="16076168" y="96266"/>
                  </a:cubicBezTo>
                  <a:lnTo>
                    <a:pt x="16076168" y="2055495"/>
                  </a:lnTo>
                  <a:cubicBezTo>
                    <a:pt x="16076168" y="2108708"/>
                    <a:pt x="16033114" y="2151761"/>
                    <a:pt x="15979902" y="2151761"/>
                  </a:cubicBezTo>
                  <a:lnTo>
                    <a:pt x="96266" y="2151761"/>
                  </a:lnTo>
                  <a:cubicBezTo>
                    <a:pt x="43053" y="2151761"/>
                    <a:pt x="0" y="2108708"/>
                    <a:pt x="0" y="205549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75" r="0" b="-95576"/>
              </a:stretch>
            </a:blipFill>
            <a:ln w="19050" cap="sq">
              <a:solidFill>
                <a:srgbClr val="08226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18713" y="4336580"/>
            <a:ext cx="12057155" cy="1613840"/>
            <a:chOff x="0" y="0"/>
            <a:chExt cx="16076206" cy="215178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76168" cy="2151761"/>
            </a:xfrm>
            <a:custGeom>
              <a:avLst/>
              <a:gdLst/>
              <a:ahLst/>
              <a:cxnLst/>
              <a:rect r="r" b="b" t="t" l="l"/>
              <a:pathLst>
                <a:path h="2151761" w="16076168">
                  <a:moveTo>
                    <a:pt x="0" y="96266"/>
                  </a:moveTo>
                  <a:cubicBezTo>
                    <a:pt x="0" y="43053"/>
                    <a:pt x="43053" y="0"/>
                    <a:pt x="96266" y="0"/>
                  </a:cubicBezTo>
                  <a:lnTo>
                    <a:pt x="15979902" y="0"/>
                  </a:lnTo>
                  <a:cubicBezTo>
                    <a:pt x="16033114" y="0"/>
                    <a:pt x="16076168" y="43053"/>
                    <a:pt x="16076168" y="96266"/>
                  </a:cubicBezTo>
                  <a:lnTo>
                    <a:pt x="16076168" y="2055495"/>
                  </a:lnTo>
                  <a:cubicBezTo>
                    <a:pt x="16076168" y="2108708"/>
                    <a:pt x="16033114" y="2151761"/>
                    <a:pt x="15979902" y="2151761"/>
                  </a:cubicBezTo>
                  <a:lnTo>
                    <a:pt x="96266" y="2151761"/>
                  </a:lnTo>
                  <a:cubicBezTo>
                    <a:pt x="43053" y="2151761"/>
                    <a:pt x="0" y="2108708"/>
                    <a:pt x="0" y="205549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75" r="0" b="-95576"/>
              </a:stretch>
            </a:blipFill>
            <a:ln w="19050" cap="sq">
              <a:solidFill>
                <a:srgbClr val="08226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218713" y="6238646"/>
            <a:ext cx="12057155" cy="1613840"/>
            <a:chOff x="0" y="0"/>
            <a:chExt cx="16076206" cy="21517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076168" cy="2151761"/>
            </a:xfrm>
            <a:custGeom>
              <a:avLst/>
              <a:gdLst/>
              <a:ahLst/>
              <a:cxnLst/>
              <a:rect r="r" b="b" t="t" l="l"/>
              <a:pathLst>
                <a:path h="2151761" w="16076168">
                  <a:moveTo>
                    <a:pt x="0" y="96266"/>
                  </a:moveTo>
                  <a:cubicBezTo>
                    <a:pt x="0" y="43053"/>
                    <a:pt x="43053" y="0"/>
                    <a:pt x="96266" y="0"/>
                  </a:cubicBezTo>
                  <a:lnTo>
                    <a:pt x="15979902" y="0"/>
                  </a:lnTo>
                  <a:cubicBezTo>
                    <a:pt x="16033114" y="0"/>
                    <a:pt x="16076168" y="43053"/>
                    <a:pt x="16076168" y="96266"/>
                  </a:cubicBezTo>
                  <a:lnTo>
                    <a:pt x="16076168" y="2055495"/>
                  </a:lnTo>
                  <a:cubicBezTo>
                    <a:pt x="16076168" y="2108708"/>
                    <a:pt x="16033114" y="2151761"/>
                    <a:pt x="15979902" y="2151761"/>
                  </a:cubicBezTo>
                  <a:lnTo>
                    <a:pt x="96266" y="2151761"/>
                  </a:lnTo>
                  <a:cubicBezTo>
                    <a:pt x="43053" y="2151761"/>
                    <a:pt x="0" y="2108708"/>
                    <a:pt x="0" y="205549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75" r="0" b="-95576"/>
              </a:stretch>
            </a:blipFill>
            <a:ln w="19050" cap="sq">
              <a:solidFill>
                <a:srgbClr val="08226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18713" y="8131759"/>
            <a:ext cx="12057155" cy="1613840"/>
            <a:chOff x="0" y="0"/>
            <a:chExt cx="16076206" cy="21517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076168" cy="2151761"/>
            </a:xfrm>
            <a:custGeom>
              <a:avLst/>
              <a:gdLst/>
              <a:ahLst/>
              <a:cxnLst/>
              <a:rect r="r" b="b" t="t" l="l"/>
              <a:pathLst>
                <a:path h="2151761" w="16076168">
                  <a:moveTo>
                    <a:pt x="0" y="96266"/>
                  </a:moveTo>
                  <a:cubicBezTo>
                    <a:pt x="0" y="43053"/>
                    <a:pt x="43053" y="0"/>
                    <a:pt x="96266" y="0"/>
                  </a:cubicBezTo>
                  <a:lnTo>
                    <a:pt x="15979902" y="0"/>
                  </a:lnTo>
                  <a:cubicBezTo>
                    <a:pt x="16033114" y="0"/>
                    <a:pt x="16076168" y="43053"/>
                    <a:pt x="16076168" y="96266"/>
                  </a:cubicBezTo>
                  <a:lnTo>
                    <a:pt x="16076168" y="2055495"/>
                  </a:lnTo>
                  <a:cubicBezTo>
                    <a:pt x="16076168" y="2108708"/>
                    <a:pt x="16033114" y="2151761"/>
                    <a:pt x="15979902" y="2151761"/>
                  </a:cubicBezTo>
                  <a:lnTo>
                    <a:pt x="96266" y="2151761"/>
                  </a:lnTo>
                  <a:cubicBezTo>
                    <a:pt x="43053" y="2151761"/>
                    <a:pt x="0" y="2108708"/>
                    <a:pt x="0" y="205549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75" r="0" b="-95576"/>
              </a:stretch>
            </a:blipFill>
            <a:ln w="19050" cap="sq">
              <a:solidFill>
                <a:srgbClr val="08226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16144" y="2553853"/>
            <a:ext cx="1404595" cy="1404595"/>
            <a:chOff x="0" y="0"/>
            <a:chExt cx="1872793" cy="18727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72742" cy="1872742"/>
            </a:xfrm>
            <a:custGeom>
              <a:avLst/>
              <a:gdLst/>
              <a:ahLst/>
              <a:cxnLst/>
              <a:rect r="r" b="b" t="t" l="l"/>
              <a:pathLst>
                <a:path h="1872742" w="1872742">
                  <a:moveTo>
                    <a:pt x="0" y="0"/>
                  </a:moveTo>
                  <a:lnTo>
                    <a:pt x="1872742" y="0"/>
                  </a:lnTo>
                  <a:lnTo>
                    <a:pt x="1872742" y="1872742"/>
                  </a:lnTo>
                  <a:lnTo>
                    <a:pt x="0" y="1872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5180" y="6131166"/>
            <a:ext cx="1828800" cy="1828800"/>
            <a:chOff x="0" y="0"/>
            <a:chExt cx="2438400" cy="243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3335" y="8282721"/>
            <a:ext cx="1412491" cy="1412491"/>
            <a:chOff x="0" y="0"/>
            <a:chExt cx="1883321" cy="1883321"/>
          </a:xfrm>
        </p:grpSpPr>
        <p:sp>
          <p:nvSpPr>
            <p:cNvPr name="Freeform 25" id="25" descr="Folder - Free files and folders icons"/>
            <p:cNvSpPr/>
            <p:nvPr/>
          </p:nvSpPr>
          <p:spPr>
            <a:xfrm flipH="false" flipV="false" rot="0">
              <a:off x="0" y="0"/>
              <a:ext cx="1883283" cy="1883283"/>
            </a:xfrm>
            <a:custGeom>
              <a:avLst/>
              <a:gdLst/>
              <a:ahLst/>
              <a:cxnLst/>
              <a:rect r="r" b="b" t="t" l="l"/>
              <a:pathLst>
                <a:path h="1883283" w="1883283">
                  <a:moveTo>
                    <a:pt x="0" y="0"/>
                  </a:moveTo>
                  <a:lnTo>
                    <a:pt x="1883283" y="0"/>
                  </a:lnTo>
                  <a:lnTo>
                    <a:pt x="1883283" y="1883283"/>
                  </a:lnTo>
                  <a:lnTo>
                    <a:pt x="0" y="1883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644723" y="2429408"/>
            <a:ext cx="5213318" cy="7275328"/>
            <a:chOff x="0" y="0"/>
            <a:chExt cx="6951091" cy="9700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51091" cy="9700387"/>
            </a:xfrm>
            <a:custGeom>
              <a:avLst/>
              <a:gdLst/>
              <a:ahLst/>
              <a:cxnLst/>
              <a:rect r="r" b="b" t="t" l="l"/>
              <a:pathLst>
                <a:path h="9700387" w="6951091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6838061" y="0"/>
                  </a:lnTo>
                  <a:cubicBezTo>
                    <a:pt x="6900545" y="0"/>
                    <a:pt x="6951091" y="50546"/>
                    <a:pt x="6951091" y="113030"/>
                  </a:cubicBezTo>
                  <a:lnTo>
                    <a:pt x="6951091" y="9587357"/>
                  </a:lnTo>
                  <a:cubicBezTo>
                    <a:pt x="6951091" y="9649840"/>
                    <a:pt x="6900545" y="9700387"/>
                    <a:pt x="6838061" y="9700387"/>
                  </a:cubicBezTo>
                  <a:lnTo>
                    <a:pt x="113030" y="9700387"/>
                  </a:lnTo>
                  <a:cubicBezTo>
                    <a:pt x="50546" y="9700387"/>
                    <a:pt x="0" y="9649840"/>
                    <a:pt x="0" y="958735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051" t="0" r="-129051" b="0"/>
              </a:stretch>
            </a:blipFill>
            <a:ln w="19050" cap="sq">
              <a:solidFill>
                <a:srgbClr val="08226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896307" y="4062984"/>
            <a:ext cx="4441727" cy="2962370"/>
            <a:chOff x="0" y="0"/>
            <a:chExt cx="5922302" cy="39498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22264" cy="3949827"/>
            </a:xfrm>
            <a:custGeom>
              <a:avLst/>
              <a:gdLst/>
              <a:ahLst/>
              <a:cxnLst/>
              <a:rect r="r" b="b" t="t" l="l"/>
              <a:pathLst>
                <a:path h="3949827" w="5922264">
                  <a:moveTo>
                    <a:pt x="0" y="0"/>
                  </a:moveTo>
                  <a:lnTo>
                    <a:pt x="5922264" y="0"/>
                  </a:lnTo>
                  <a:lnTo>
                    <a:pt x="5922264" y="3949827"/>
                  </a:lnTo>
                  <a:lnTo>
                    <a:pt x="0" y="3949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4968" r="0" b="-2496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644723" y="2429408"/>
            <a:ext cx="5213318" cy="1282398"/>
            <a:chOff x="0" y="0"/>
            <a:chExt cx="6951091" cy="17098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51090" cy="1709927"/>
            </a:xfrm>
            <a:custGeom>
              <a:avLst/>
              <a:gdLst/>
              <a:ahLst/>
              <a:cxnLst/>
              <a:rect r="r" b="b" t="t" l="l"/>
              <a:pathLst>
                <a:path h="1709927" w="6951090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6760972" y="0"/>
                  </a:lnTo>
                  <a:cubicBezTo>
                    <a:pt x="6866001" y="0"/>
                    <a:pt x="6951090" y="85090"/>
                    <a:pt x="6951090" y="190119"/>
                  </a:cubicBezTo>
                  <a:lnTo>
                    <a:pt x="6951090" y="1519809"/>
                  </a:lnTo>
                  <a:cubicBezTo>
                    <a:pt x="6951090" y="1624837"/>
                    <a:pt x="6866001" y="1709927"/>
                    <a:pt x="6760972" y="1709927"/>
                  </a:cubicBezTo>
                  <a:lnTo>
                    <a:pt x="190119" y="1709927"/>
                  </a:lnTo>
                  <a:cubicBezTo>
                    <a:pt x="85090" y="1709800"/>
                    <a:pt x="0" y="1624711"/>
                    <a:pt x="0" y="1519809"/>
                  </a:cubicBezTo>
                  <a:close/>
                </a:path>
              </a:pathLst>
            </a:custGeom>
            <a:solidFill>
              <a:srgbClr val="012C71"/>
            </a:solidFill>
            <a:ln w="1905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951091" cy="172891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Context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(Vietnam Post)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990278" y="2473823"/>
            <a:ext cx="870820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b="true">
                <a:solidFill>
                  <a:srgbClr val="1646A6"/>
                </a:solidFill>
                <a:latin typeface="Arial Bold"/>
                <a:ea typeface="Arial Bold"/>
                <a:cs typeface="Arial Bold"/>
                <a:sym typeface="Arial Bold"/>
              </a:rPr>
              <a:t>Characteristics 1</a:t>
            </a:r>
          </a:p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Vietnam Post operates in an environment that requires the continuous receipt and dispatch of orders across the country.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90278" y="8200034"/>
            <a:ext cx="8708203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b="true">
                <a:solidFill>
                  <a:srgbClr val="1646A6"/>
                </a:solidFill>
                <a:latin typeface="Arial Bold"/>
                <a:ea typeface="Arial Bold"/>
                <a:cs typeface="Arial Bold"/>
                <a:sym typeface="Arial Bold"/>
              </a:rPr>
              <a:t>Characteristics 4</a:t>
            </a:r>
          </a:p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Volum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spikes by 25–30% during peak periods (e.g., Lunar New Year 2026), leading to severe counter congestion.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990278" y="6261535"/>
            <a:ext cx="8708203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b="true">
                <a:solidFill>
                  <a:srgbClr val="1646A6"/>
                </a:solidFill>
                <a:latin typeface="Arial Bold"/>
                <a:ea typeface="Arial Bold"/>
                <a:cs typeface="Arial Bold"/>
                <a:sym typeface="Arial Bold"/>
              </a:rPr>
              <a:t>Characteristics 3</a:t>
            </a:r>
          </a:p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Over-th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e-counter transactions still require multiple manual processing steps and data entry tasks performed directly by tellers, resulting in s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ignific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 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nsumpt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90278" y="4457700"/>
            <a:ext cx="9102213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 b="true">
                <a:solidFill>
                  <a:srgbClr val="1646A6"/>
                </a:solidFill>
                <a:latin typeface="Arial Bold"/>
                <a:ea typeface="Arial Bold"/>
                <a:cs typeface="Arial Bold"/>
                <a:sym typeface="Arial Bold"/>
              </a:rPr>
              <a:t>Characteristics 2</a:t>
            </a:r>
          </a:p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 acceptance stage is the initial point where data for the entire postal journey is generated. The quality of data created at this stage directly impacts subsequent processes.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987747" y="7324487"/>
            <a:ext cx="4258847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Vietnam Post</a:t>
            </a: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leading state-owned enterprise in the fields of postal services, delivery, postal financial services, and logistics.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59579" y="4572641"/>
            <a:ext cx="2642285" cy="1141718"/>
            <a:chOff x="0" y="0"/>
            <a:chExt cx="2654922" cy="11471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54922" cy="1147191"/>
            </a:xfrm>
            <a:custGeom>
              <a:avLst/>
              <a:gdLst/>
              <a:ahLst/>
              <a:cxnLst/>
              <a:rect r="r" b="b" t="t" l="l"/>
              <a:pathLst>
                <a:path h="1147191" w="2654922">
                  <a:moveTo>
                    <a:pt x="0" y="0"/>
                  </a:moveTo>
                  <a:lnTo>
                    <a:pt x="2654922" y="0"/>
                  </a:lnTo>
                  <a:lnTo>
                    <a:pt x="2654922" y="1147191"/>
                  </a:lnTo>
                  <a:lnTo>
                    <a:pt x="0" y="1147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292" t="0" r="-2292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9054" y="1338735"/>
            <a:ext cx="18307049" cy="19171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09188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71196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9188" y="2669179"/>
            <a:ext cx="17894455" cy="5073102"/>
            <a:chOff x="0" y="0"/>
            <a:chExt cx="16076206" cy="45576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076168" cy="4557572"/>
            </a:xfrm>
            <a:custGeom>
              <a:avLst/>
              <a:gdLst/>
              <a:ahLst/>
              <a:cxnLst/>
              <a:rect r="r" b="b" t="t" l="l"/>
              <a:pathLst>
                <a:path h="4557572" w="16076168">
                  <a:moveTo>
                    <a:pt x="0" y="203898"/>
                  </a:moveTo>
                  <a:cubicBezTo>
                    <a:pt x="0" y="91189"/>
                    <a:pt x="43053" y="0"/>
                    <a:pt x="96266" y="0"/>
                  </a:cubicBezTo>
                  <a:lnTo>
                    <a:pt x="15979902" y="0"/>
                  </a:lnTo>
                  <a:cubicBezTo>
                    <a:pt x="16033114" y="0"/>
                    <a:pt x="16076168" y="91189"/>
                    <a:pt x="16076168" y="203898"/>
                  </a:cubicBezTo>
                  <a:lnTo>
                    <a:pt x="16076168" y="4353675"/>
                  </a:lnTo>
                  <a:cubicBezTo>
                    <a:pt x="16076168" y="4466383"/>
                    <a:pt x="16033114" y="4557572"/>
                    <a:pt x="15979902" y="4557572"/>
                  </a:cubicBezTo>
                  <a:lnTo>
                    <a:pt x="96266" y="4557572"/>
                  </a:lnTo>
                  <a:cubicBezTo>
                    <a:pt x="43053" y="4557572"/>
                    <a:pt x="0" y="4466383"/>
                    <a:pt x="0" y="435367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24" r="0" b="7662"/>
              </a:stretch>
            </a:blipFill>
            <a:ln w="19050" cap="sq">
              <a:solidFill>
                <a:srgbClr val="08226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73482" y="2968217"/>
            <a:ext cx="17560033" cy="431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Prolonged Acceptance Time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Manual process takes 6–8 minutes per item</a:t>
            </a:r>
          </a:p>
          <a:p>
            <a:pPr algn="just">
              <a:lnSpc>
                <a:spcPts val="3120"/>
              </a:lnSpc>
            </a:pPr>
          </a:p>
          <a:p>
            <a:pPr algn="just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Repetitive Data Entry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Information already exists on package labels, but tellers must still manually read and re-type it into the system.</a:t>
            </a:r>
          </a:p>
          <a:p>
            <a:pPr algn="just">
              <a:lnSpc>
                <a:spcPts val="3120"/>
              </a:lnSpc>
            </a:pPr>
          </a:p>
          <a:p>
            <a:pPr algn="just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High Risk of Errors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Manual reading and entry of physical measurements (weight, dimensions) easily cause data errors, impacting downstream logistics.</a:t>
            </a:r>
          </a:p>
          <a:p>
            <a:pPr algn="just">
              <a:lnSpc>
                <a:spcPts val="3120"/>
              </a:lnSpc>
            </a:pPr>
          </a:p>
          <a:p>
            <a:pPr algn="just">
              <a:lnSpc>
                <a:spcPts val="3120"/>
              </a:lnSpc>
            </a:pPr>
            <a:r>
              <a:rPr lang="en-US" sz="2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Teller resources are currently consumed by mechanical tasks that can be automated</a:t>
            </a: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Tellers' time should shift from reading, typing, recording measurements, and performing repetitive calculations to inspecting goods, providing advice, serving customers, cross-selling services, and handling exceptions.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8713" y="1610668"/>
            <a:ext cx="6794621" cy="667986"/>
            <a:chOff x="0" y="0"/>
            <a:chExt cx="9059494" cy="8906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9418" cy="890648"/>
            </a:xfrm>
            <a:custGeom>
              <a:avLst/>
              <a:gdLst/>
              <a:ahLst/>
              <a:cxnLst/>
              <a:rect r="r" b="b" t="t" l="l"/>
              <a:pathLst>
                <a:path h="890648" w="9059418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8936101" y="0"/>
                  </a:lnTo>
                  <a:cubicBezTo>
                    <a:pt x="9004173" y="0"/>
                    <a:pt x="9059418" y="55245"/>
                    <a:pt x="9059418" y="123317"/>
                  </a:cubicBezTo>
                  <a:lnTo>
                    <a:pt x="9059418" y="767331"/>
                  </a:lnTo>
                  <a:cubicBezTo>
                    <a:pt x="9059418" y="835403"/>
                    <a:pt x="9004173" y="890648"/>
                    <a:pt x="8936101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059494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1.2 Introduction – Problem Statement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6554" y="7864067"/>
            <a:ext cx="17827090" cy="1769818"/>
            <a:chOff x="0" y="0"/>
            <a:chExt cx="23769453" cy="23597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69517" cy="2359747"/>
            </a:xfrm>
            <a:custGeom>
              <a:avLst/>
              <a:gdLst/>
              <a:ahLst/>
              <a:cxnLst/>
              <a:rect r="r" b="b" t="t" l="l"/>
              <a:pathLst>
                <a:path h="2359747" w="23769517">
                  <a:moveTo>
                    <a:pt x="0" y="38385"/>
                  </a:moveTo>
                  <a:cubicBezTo>
                    <a:pt x="0" y="17170"/>
                    <a:pt x="33514" y="0"/>
                    <a:pt x="74924" y="0"/>
                  </a:cubicBezTo>
                  <a:lnTo>
                    <a:pt x="23694625" y="0"/>
                  </a:lnTo>
                  <a:cubicBezTo>
                    <a:pt x="23736036" y="0"/>
                    <a:pt x="23769517" y="17170"/>
                    <a:pt x="23769517" y="38385"/>
                  </a:cubicBezTo>
                  <a:lnTo>
                    <a:pt x="23769517" y="2321362"/>
                  </a:lnTo>
                  <a:cubicBezTo>
                    <a:pt x="23769517" y="2342578"/>
                    <a:pt x="23736036" y="2359747"/>
                    <a:pt x="23694625" y="2359747"/>
                  </a:cubicBezTo>
                  <a:lnTo>
                    <a:pt x="74924" y="2359747"/>
                  </a:lnTo>
                  <a:cubicBezTo>
                    <a:pt x="33514" y="2359747"/>
                    <a:pt x="0" y="2342578"/>
                    <a:pt x="0" y="232136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D7EBF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08226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3769453" cy="237880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    Goal</a:t>
              </a:r>
            </a:p>
            <a:p>
              <a:pPr algn="just">
                <a:lnSpc>
                  <a:spcPts val="2639"/>
                </a:lnSpc>
              </a:pPr>
              <a:r>
                <a:rPr lang="en-US" b="true" sz="2199">
                  <a:solidFill>
                    <a:srgbClr val="1919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Deve</a:t>
              </a:r>
              <a:r>
                <a:rPr lang="en-US" b="true" sz="2199">
                  <a:solidFill>
                    <a:srgbClr val="1919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lop a solution capable of supporting the automation of the parcel intake process, specifically regarding information recognition, package dimension measurement, and the calculation of necessary parameters.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6554" y="7864067"/>
            <a:ext cx="585216" cy="585216"/>
            <a:chOff x="0" y="0"/>
            <a:chExt cx="780288" cy="7802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68045" y="0"/>
            <a:ext cx="9165469" cy="1348322"/>
            <a:chOff x="0" y="0"/>
            <a:chExt cx="12220626" cy="17977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8238" y="1610668"/>
            <a:ext cx="9055246" cy="667986"/>
            <a:chOff x="0" y="0"/>
            <a:chExt cx="12073661" cy="8906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3636" cy="890648"/>
            </a:xfrm>
            <a:custGeom>
              <a:avLst/>
              <a:gdLst/>
              <a:ahLst/>
              <a:cxnLst/>
              <a:rect r="r" b="b" t="t" l="l"/>
              <a:pathLst>
                <a:path h="890648" w="12073636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1950319" y="0"/>
                  </a:lnTo>
                  <a:cubicBezTo>
                    <a:pt x="12018390" y="0"/>
                    <a:pt x="12073636" y="55245"/>
                    <a:pt x="12073636" y="123317"/>
                  </a:cubicBezTo>
                  <a:lnTo>
                    <a:pt x="12073636" y="767331"/>
                  </a:lnTo>
                  <a:cubicBezTo>
                    <a:pt x="12073636" y="835403"/>
                    <a:pt x="12018390" y="890648"/>
                    <a:pt x="11950319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2073661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2.1 Background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331436" y="4225883"/>
            <a:ext cx="11625128" cy="3747198"/>
            <a:chOff x="0" y="0"/>
            <a:chExt cx="15500171" cy="4996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00139" cy="4996128"/>
            </a:xfrm>
            <a:custGeom>
              <a:avLst/>
              <a:gdLst/>
              <a:ahLst/>
              <a:cxnLst/>
              <a:rect r="r" b="b" t="t" l="l"/>
              <a:pathLst>
                <a:path h="4996128" w="15500139">
                  <a:moveTo>
                    <a:pt x="0" y="223380"/>
                  </a:moveTo>
                  <a:cubicBezTo>
                    <a:pt x="0" y="100041"/>
                    <a:pt x="71113" y="0"/>
                    <a:pt x="158788" y="0"/>
                  </a:cubicBezTo>
                  <a:lnTo>
                    <a:pt x="15341352" y="0"/>
                  </a:lnTo>
                  <a:cubicBezTo>
                    <a:pt x="15429026" y="0"/>
                    <a:pt x="15500139" y="100041"/>
                    <a:pt x="15500139" y="223380"/>
                  </a:cubicBezTo>
                  <a:lnTo>
                    <a:pt x="15500139" y="4772748"/>
                  </a:lnTo>
                  <a:cubicBezTo>
                    <a:pt x="15500139" y="4896086"/>
                    <a:pt x="15429026" y="4996128"/>
                    <a:pt x="15341352" y="4996128"/>
                  </a:cubicBezTo>
                  <a:lnTo>
                    <a:pt x="158788" y="4996128"/>
                  </a:lnTo>
                  <a:cubicBezTo>
                    <a:pt x="71113" y="4996128"/>
                    <a:pt x="0" y="4896086"/>
                    <a:pt x="0" y="477274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83" r="21778" b="24911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597322" y="3239398"/>
            <a:ext cx="9093356" cy="789253"/>
            <a:chOff x="0" y="0"/>
            <a:chExt cx="12124474" cy="10523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24563" cy="1052413"/>
            </a:xfrm>
            <a:custGeom>
              <a:avLst/>
              <a:gdLst/>
              <a:ahLst/>
              <a:cxnLst/>
              <a:rect r="r" b="b" t="t" l="l"/>
              <a:pathLst>
                <a:path h="1052413" w="12124563">
                  <a:moveTo>
                    <a:pt x="0" y="163234"/>
                  </a:moveTo>
                  <a:cubicBezTo>
                    <a:pt x="0" y="73018"/>
                    <a:pt x="63627" y="0"/>
                    <a:pt x="142240" y="0"/>
                  </a:cubicBezTo>
                  <a:lnTo>
                    <a:pt x="11982323" y="0"/>
                  </a:lnTo>
                  <a:cubicBezTo>
                    <a:pt x="12060809" y="0"/>
                    <a:pt x="12124563" y="73018"/>
                    <a:pt x="12124563" y="163234"/>
                  </a:cubicBezTo>
                  <a:lnTo>
                    <a:pt x="12124563" y="889190"/>
                  </a:lnTo>
                  <a:cubicBezTo>
                    <a:pt x="12124563" y="979260"/>
                    <a:pt x="12060936" y="1052413"/>
                    <a:pt x="11982323" y="1052413"/>
                  </a:cubicBezTo>
                  <a:lnTo>
                    <a:pt x="142240" y="1052413"/>
                  </a:lnTo>
                  <a:cubicBezTo>
                    <a:pt x="63627" y="1052279"/>
                    <a:pt x="0" y="979261"/>
                    <a:pt x="0" y="889190"/>
                  </a:cubicBezTo>
                  <a:close/>
                </a:path>
              </a:pathLst>
            </a:custGeom>
            <a:solidFill>
              <a:srgbClr val="F7F8F9"/>
            </a:solidFill>
            <a:ln w="38100" cap="sq">
              <a:solidFill>
                <a:srgbClr val="AFBAD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124474" cy="1071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19"/>
                </a:lnSpc>
              </a:pPr>
              <a:r>
                <a:rPr lang="en-US" b="true" sz="3099" spc="-61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Computer Vision Application Trends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515514" y="4368758"/>
            <a:ext cx="11253707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rece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 years, Computer Vision and Deep Lear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ning h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 become core technologies in lo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gistics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automation and par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 handling. Modern systems go beyond basic sorting, aiming for end-to-end au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tomation—ranging from information recognition and 3D dimension measurement to parcel condition inspection. Research directly related to this topic focuses on three main problem categories: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and handwriting recognition (OCR) on parcel labels.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Parcel dimension measurement and volume estimation.</a:t>
            </a:r>
          </a:p>
          <a:p>
            <a:pPr algn="just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Multi-task integration on a single computer vision system.</a:t>
            </a:r>
          </a:p>
          <a:p>
            <a:pPr algn="just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574540"/>
            <a:ext cx="7708306" cy="667986"/>
            <a:chOff x="0" y="0"/>
            <a:chExt cx="10277742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7780" cy="890648"/>
            </a:xfrm>
            <a:custGeom>
              <a:avLst/>
              <a:gdLst/>
              <a:ahLst/>
              <a:cxnLst/>
              <a:rect r="r" b="b" t="t" l="l"/>
              <a:pathLst>
                <a:path h="890648" w="10277780">
                  <a:moveTo>
                    <a:pt x="0" y="123317"/>
                  </a:moveTo>
                  <a:cubicBezTo>
                    <a:pt x="0" y="55245"/>
                    <a:pt x="40487" y="0"/>
                    <a:pt x="90375" y="0"/>
                  </a:cubicBezTo>
                  <a:lnTo>
                    <a:pt x="10187394" y="0"/>
                  </a:lnTo>
                  <a:cubicBezTo>
                    <a:pt x="10237282" y="0"/>
                    <a:pt x="10277780" y="55245"/>
                    <a:pt x="10277780" y="123317"/>
                  </a:cubicBezTo>
                  <a:lnTo>
                    <a:pt x="10277780" y="767331"/>
                  </a:lnTo>
                  <a:cubicBezTo>
                    <a:pt x="10277780" y="835403"/>
                    <a:pt x="10237282" y="890648"/>
                    <a:pt x="10187394" y="890648"/>
                  </a:cubicBezTo>
                  <a:lnTo>
                    <a:pt x="90375" y="890648"/>
                  </a:lnTo>
                  <a:cubicBezTo>
                    <a:pt x="40487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277742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 spc="-55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2.2 Related Works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9407" y="2538039"/>
            <a:ext cx="8048164" cy="695532"/>
            <a:chOff x="0" y="0"/>
            <a:chExt cx="10730885" cy="9273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30819" cy="927351"/>
            </a:xfrm>
            <a:custGeom>
              <a:avLst/>
              <a:gdLst/>
              <a:ahLst/>
              <a:cxnLst/>
              <a:rect r="r" b="b" t="t" l="l"/>
              <a:pathLst>
                <a:path h="927351" w="10730819">
                  <a:moveTo>
                    <a:pt x="0" y="143763"/>
                  </a:moveTo>
                  <a:cubicBezTo>
                    <a:pt x="0" y="64389"/>
                    <a:pt x="67308" y="0"/>
                    <a:pt x="150282" y="0"/>
                  </a:cubicBezTo>
                  <a:lnTo>
                    <a:pt x="10580536" y="0"/>
                  </a:lnTo>
                  <a:cubicBezTo>
                    <a:pt x="10663510" y="0"/>
                    <a:pt x="10730819" y="64389"/>
                    <a:pt x="10730819" y="143763"/>
                  </a:cubicBezTo>
                  <a:lnTo>
                    <a:pt x="10730819" y="783587"/>
                  </a:lnTo>
                  <a:cubicBezTo>
                    <a:pt x="10730819" y="862962"/>
                    <a:pt x="10663510" y="927351"/>
                    <a:pt x="10580536" y="927351"/>
                  </a:cubicBezTo>
                  <a:lnTo>
                    <a:pt x="150282" y="927351"/>
                  </a:lnTo>
                  <a:cubicBezTo>
                    <a:pt x="67308" y="927351"/>
                    <a:pt x="0" y="862962"/>
                    <a:pt x="0" y="783587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12C71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730885" cy="946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 et al. – Text</a:t>
              </a: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Recognition with TrOCR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0925" y="3233571"/>
            <a:ext cx="8046645" cy="1411639"/>
            <a:chOff x="0" y="0"/>
            <a:chExt cx="10728860" cy="18821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28793" cy="1882179"/>
            </a:xfrm>
            <a:custGeom>
              <a:avLst/>
              <a:gdLst/>
              <a:ahLst/>
              <a:cxnLst/>
              <a:rect r="r" b="b" t="t" l="l"/>
              <a:pathLst>
                <a:path h="1882179" w="10728793">
                  <a:moveTo>
                    <a:pt x="0" y="84182"/>
                  </a:moveTo>
                  <a:cubicBezTo>
                    <a:pt x="0" y="37702"/>
                    <a:pt x="130263" y="0"/>
                    <a:pt x="290857" y="0"/>
                  </a:cubicBezTo>
                  <a:lnTo>
                    <a:pt x="10437936" y="0"/>
                  </a:lnTo>
                  <a:cubicBezTo>
                    <a:pt x="10598613" y="0"/>
                    <a:pt x="10728793" y="37702"/>
                    <a:pt x="10728793" y="84182"/>
                  </a:cubicBezTo>
                  <a:lnTo>
                    <a:pt x="10728793" y="1797997"/>
                  </a:lnTo>
                  <a:cubicBezTo>
                    <a:pt x="10728793" y="1844501"/>
                    <a:pt x="10598529" y="1882179"/>
                    <a:pt x="10437936" y="1882179"/>
                  </a:cubicBezTo>
                  <a:lnTo>
                    <a:pt x="290857" y="1882179"/>
                  </a:lnTo>
                  <a:cubicBezTo>
                    <a:pt x="130263" y="1882179"/>
                    <a:pt x="0" y="1844501"/>
                    <a:pt x="0" y="179799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08" t="0" r="-94203" b="-425159"/>
              </a:stretch>
            </a:blipFill>
            <a:ln w="38100" cap="sq">
              <a:solidFill>
                <a:srgbClr val="012C71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67195" y="3366479"/>
            <a:ext cx="747051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Architectural Innovatio</a:t>
            </a: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n: Replaces traditional CNN + RNN combinations with a Transformer-based Image Encoder and Text Decoder.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76119" y="4970555"/>
            <a:ext cx="8048164" cy="939887"/>
            <a:chOff x="0" y="0"/>
            <a:chExt cx="10730885" cy="12531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30819" cy="1253148"/>
            </a:xfrm>
            <a:custGeom>
              <a:avLst/>
              <a:gdLst/>
              <a:ahLst/>
              <a:cxnLst/>
              <a:rect r="r" b="b" t="t" l="l"/>
              <a:pathLst>
                <a:path h="1253148" w="10730819">
                  <a:moveTo>
                    <a:pt x="0" y="194271"/>
                  </a:moveTo>
                  <a:cubicBezTo>
                    <a:pt x="0" y="87010"/>
                    <a:pt x="67308" y="0"/>
                    <a:pt x="150282" y="0"/>
                  </a:cubicBezTo>
                  <a:lnTo>
                    <a:pt x="10580536" y="0"/>
                  </a:lnTo>
                  <a:cubicBezTo>
                    <a:pt x="10663510" y="0"/>
                    <a:pt x="10730819" y="87010"/>
                    <a:pt x="10730819" y="194271"/>
                  </a:cubicBezTo>
                  <a:lnTo>
                    <a:pt x="10730819" y="1058877"/>
                  </a:lnTo>
                  <a:cubicBezTo>
                    <a:pt x="10730819" y="1166138"/>
                    <a:pt x="10663510" y="1253148"/>
                    <a:pt x="10580536" y="1253148"/>
                  </a:cubicBezTo>
                  <a:lnTo>
                    <a:pt x="150282" y="1253148"/>
                  </a:lnTo>
                  <a:cubicBezTo>
                    <a:pt x="67308" y="1253148"/>
                    <a:pt x="0" y="1166138"/>
                    <a:pt x="0" y="1058877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12C7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730885" cy="127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Fernandes et al.  – Dim</a:t>
              </a: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ension Measurement via Geometry and Laser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4651" y="5910442"/>
            <a:ext cx="8046645" cy="1411639"/>
            <a:chOff x="0" y="0"/>
            <a:chExt cx="10728860" cy="188218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8793" cy="1882179"/>
            </a:xfrm>
            <a:custGeom>
              <a:avLst/>
              <a:gdLst/>
              <a:ahLst/>
              <a:cxnLst/>
              <a:rect r="r" b="b" t="t" l="l"/>
              <a:pathLst>
                <a:path h="1882179" w="10728793">
                  <a:moveTo>
                    <a:pt x="0" y="84182"/>
                  </a:moveTo>
                  <a:cubicBezTo>
                    <a:pt x="0" y="37702"/>
                    <a:pt x="130263" y="0"/>
                    <a:pt x="290857" y="0"/>
                  </a:cubicBezTo>
                  <a:lnTo>
                    <a:pt x="10437936" y="0"/>
                  </a:lnTo>
                  <a:cubicBezTo>
                    <a:pt x="10598613" y="0"/>
                    <a:pt x="10728793" y="37702"/>
                    <a:pt x="10728793" y="84182"/>
                  </a:cubicBezTo>
                  <a:lnTo>
                    <a:pt x="10728793" y="1797997"/>
                  </a:lnTo>
                  <a:cubicBezTo>
                    <a:pt x="10728793" y="1844501"/>
                    <a:pt x="10598529" y="1882179"/>
                    <a:pt x="10437936" y="1882179"/>
                  </a:cubicBezTo>
                  <a:lnTo>
                    <a:pt x="290857" y="1882179"/>
                  </a:lnTo>
                  <a:cubicBezTo>
                    <a:pt x="130263" y="1882179"/>
                    <a:pt x="0" y="1844501"/>
                    <a:pt x="0" y="179799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08" t="0" r="-94203" b="-425159"/>
              </a:stretch>
            </a:blipFill>
            <a:ln w="38100" cap="sq">
              <a:solidFill>
                <a:srgbClr val="012C71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21965" y="6043792"/>
            <a:ext cx="747051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Determines box dimensions from camera images based on perspective geometry, object contours, and supporting laser lines.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42128" y="2538039"/>
            <a:ext cx="8048164" cy="939887"/>
            <a:chOff x="0" y="0"/>
            <a:chExt cx="10730885" cy="12531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30819" cy="1253148"/>
            </a:xfrm>
            <a:custGeom>
              <a:avLst/>
              <a:gdLst/>
              <a:ahLst/>
              <a:cxnLst/>
              <a:rect r="r" b="b" t="t" l="l"/>
              <a:pathLst>
                <a:path h="1253148" w="10730819">
                  <a:moveTo>
                    <a:pt x="0" y="194271"/>
                  </a:moveTo>
                  <a:cubicBezTo>
                    <a:pt x="0" y="87010"/>
                    <a:pt x="67308" y="0"/>
                    <a:pt x="150282" y="0"/>
                  </a:cubicBezTo>
                  <a:lnTo>
                    <a:pt x="10580536" y="0"/>
                  </a:lnTo>
                  <a:cubicBezTo>
                    <a:pt x="10663510" y="0"/>
                    <a:pt x="10730819" y="87010"/>
                    <a:pt x="10730819" y="194271"/>
                  </a:cubicBezTo>
                  <a:lnTo>
                    <a:pt x="10730819" y="1058877"/>
                  </a:lnTo>
                  <a:cubicBezTo>
                    <a:pt x="10730819" y="1166138"/>
                    <a:pt x="10663510" y="1253148"/>
                    <a:pt x="10580536" y="1253148"/>
                  </a:cubicBezTo>
                  <a:lnTo>
                    <a:pt x="150282" y="1253148"/>
                  </a:lnTo>
                  <a:cubicBezTo>
                    <a:pt x="67308" y="1253148"/>
                    <a:pt x="0" y="1166138"/>
                    <a:pt x="0" y="1058877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12C71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0730885" cy="127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Peng et al.  – Dimension</a:t>
              </a: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Measurement via Laser Triangulation &amp; Deep Learning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43646" y="3477926"/>
            <a:ext cx="8046645" cy="1167285"/>
            <a:chOff x="0" y="0"/>
            <a:chExt cx="10728860" cy="15563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793" cy="1556374"/>
            </a:xfrm>
            <a:custGeom>
              <a:avLst/>
              <a:gdLst/>
              <a:ahLst/>
              <a:cxnLst/>
              <a:rect r="r" b="b" t="t" l="l"/>
              <a:pathLst>
                <a:path h="1556374" w="10728793">
                  <a:moveTo>
                    <a:pt x="0" y="69610"/>
                  </a:moveTo>
                  <a:cubicBezTo>
                    <a:pt x="0" y="31175"/>
                    <a:pt x="130263" y="0"/>
                    <a:pt x="290857" y="0"/>
                  </a:cubicBezTo>
                  <a:lnTo>
                    <a:pt x="10437936" y="0"/>
                  </a:lnTo>
                  <a:cubicBezTo>
                    <a:pt x="10598613" y="0"/>
                    <a:pt x="10728793" y="31175"/>
                    <a:pt x="10728793" y="69610"/>
                  </a:cubicBezTo>
                  <a:lnTo>
                    <a:pt x="10728793" y="1486764"/>
                  </a:lnTo>
                  <a:cubicBezTo>
                    <a:pt x="10728793" y="1525218"/>
                    <a:pt x="10598529" y="1556374"/>
                    <a:pt x="10437936" y="1556374"/>
                  </a:cubicBezTo>
                  <a:lnTo>
                    <a:pt x="290857" y="1556374"/>
                  </a:lnTo>
                  <a:cubicBezTo>
                    <a:pt x="130263" y="1556374"/>
                    <a:pt x="0" y="1525218"/>
                    <a:pt x="0" y="1486764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08" t="0" r="-94203" b="-535094"/>
              </a:stretch>
            </a:blipFill>
            <a:ln w="38100" cap="sq">
              <a:solidFill>
                <a:srgbClr val="012C71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879916" y="3626036"/>
            <a:ext cx="747051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Combi</a:t>
            </a: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nes laser triangulation with deep learning on a structured light system to extract 3D depth features.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42128" y="4970555"/>
            <a:ext cx="8048164" cy="695532"/>
            <a:chOff x="0" y="0"/>
            <a:chExt cx="10730885" cy="9273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30819" cy="927351"/>
            </a:xfrm>
            <a:custGeom>
              <a:avLst/>
              <a:gdLst/>
              <a:ahLst/>
              <a:cxnLst/>
              <a:rect r="r" b="b" t="t" l="l"/>
              <a:pathLst>
                <a:path h="927351" w="10730819">
                  <a:moveTo>
                    <a:pt x="0" y="143763"/>
                  </a:moveTo>
                  <a:cubicBezTo>
                    <a:pt x="0" y="64389"/>
                    <a:pt x="67308" y="0"/>
                    <a:pt x="150282" y="0"/>
                  </a:cubicBezTo>
                  <a:lnTo>
                    <a:pt x="10580536" y="0"/>
                  </a:lnTo>
                  <a:cubicBezTo>
                    <a:pt x="10663510" y="0"/>
                    <a:pt x="10730819" y="64389"/>
                    <a:pt x="10730819" y="143763"/>
                  </a:cubicBezTo>
                  <a:lnTo>
                    <a:pt x="10730819" y="783587"/>
                  </a:lnTo>
                  <a:cubicBezTo>
                    <a:pt x="10730819" y="862962"/>
                    <a:pt x="10663510" y="927351"/>
                    <a:pt x="10580536" y="927351"/>
                  </a:cubicBezTo>
                  <a:lnTo>
                    <a:pt x="150282" y="927351"/>
                  </a:lnTo>
                  <a:cubicBezTo>
                    <a:pt x="67308" y="927351"/>
                    <a:pt x="0" y="862962"/>
                    <a:pt x="0" y="783587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12C7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0730885" cy="946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 Van Thai – Dim</a:t>
              </a: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ension Measurement via Stereo Vision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40659" y="5666087"/>
            <a:ext cx="8046645" cy="1411639"/>
            <a:chOff x="0" y="0"/>
            <a:chExt cx="10728860" cy="18821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28793" cy="1882179"/>
            </a:xfrm>
            <a:custGeom>
              <a:avLst/>
              <a:gdLst/>
              <a:ahLst/>
              <a:cxnLst/>
              <a:rect r="r" b="b" t="t" l="l"/>
              <a:pathLst>
                <a:path h="1882179" w="10728793">
                  <a:moveTo>
                    <a:pt x="0" y="84182"/>
                  </a:moveTo>
                  <a:cubicBezTo>
                    <a:pt x="0" y="37702"/>
                    <a:pt x="130263" y="0"/>
                    <a:pt x="290857" y="0"/>
                  </a:cubicBezTo>
                  <a:lnTo>
                    <a:pt x="10437936" y="0"/>
                  </a:lnTo>
                  <a:cubicBezTo>
                    <a:pt x="10598613" y="0"/>
                    <a:pt x="10728793" y="37702"/>
                    <a:pt x="10728793" y="84182"/>
                  </a:cubicBezTo>
                  <a:lnTo>
                    <a:pt x="10728793" y="1797997"/>
                  </a:lnTo>
                  <a:cubicBezTo>
                    <a:pt x="10728793" y="1844501"/>
                    <a:pt x="10598529" y="1882179"/>
                    <a:pt x="10437936" y="1882179"/>
                  </a:cubicBezTo>
                  <a:lnTo>
                    <a:pt x="290857" y="1882179"/>
                  </a:lnTo>
                  <a:cubicBezTo>
                    <a:pt x="130263" y="1882179"/>
                    <a:pt x="0" y="1844501"/>
                    <a:pt x="0" y="179799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08" t="0" r="-94203" b="-425159"/>
              </a:stretch>
            </a:blipFill>
            <a:ln w="38100" cap="sq">
              <a:solidFill>
                <a:srgbClr val="012C71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887973" y="5799437"/>
            <a:ext cx="747051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Uses a dual-camera system (Stereo Vision) observi</a:t>
            </a: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ng from two different angles, calculating the disparity of corresponding points to reconstruct 3D space.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444925" y="7647426"/>
            <a:ext cx="8048164" cy="695532"/>
            <a:chOff x="0" y="0"/>
            <a:chExt cx="10730885" cy="9273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30819" cy="927351"/>
            </a:xfrm>
            <a:custGeom>
              <a:avLst/>
              <a:gdLst/>
              <a:ahLst/>
              <a:cxnLst/>
              <a:rect r="r" b="b" t="t" l="l"/>
              <a:pathLst>
                <a:path h="927351" w="10730819">
                  <a:moveTo>
                    <a:pt x="0" y="143763"/>
                  </a:moveTo>
                  <a:cubicBezTo>
                    <a:pt x="0" y="64389"/>
                    <a:pt x="67308" y="0"/>
                    <a:pt x="150282" y="0"/>
                  </a:cubicBezTo>
                  <a:lnTo>
                    <a:pt x="10580536" y="0"/>
                  </a:lnTo>
                  <a:cubicBezTo>
                    <a:pt x="10663510" y="0"/>
                    <a:pt x="10730819" y="64389"/>
                    <a:pt x="10730819" y="143763"/>
                  </a:cubicBezTo>
                  <a:lnTo>
                    <a:pt x="10730819" y="783587"/>
                  </a:lnTo>
                  <a:cubicBezTo>
                    <a:pt x="10730819" y="862962"/>
                    <a:pt x="10663510" y="927351"/>
                    <a:pt x="10580536" y="927351"/>
                  </a:cubicBezTo>
                  <a:lnTo>
                    <a:pt x="150282" y="927351"/>
                  </a:lnTo>
                  <a:cubicBezTo>
                    <a:pt x="67308" y="927351"/>
                    <a:pt x="0" y="862962"/>
                    <a:pt x="0" y="783587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12C71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730885" cy="946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Tran et al. – Integrated Proc</a:t>
              </a:r>
              <a:r>
                <a:rPr lang="en-US" b="true" sz="2199" spc="-43">
                  <a:solidFill>
                    <a:srgbClr val="002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essing System with YOLOv12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46444" y="8342958"/>
            <a:ext cx="8046645" cy="1411639"/>
            <a:chOff x="0" y="0"/>
            <a:chExt cx="10728860" cy="188218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28793" cy="1882179"/>
            </a:xfrm>
            <a:custGeom>
              <a:avLst/>
              <a:gdLst/>
              <a:ahLst/>
              <a:cxnLst/>
              <a:rect r="r" b="b" t="t" l="l"/>
              <a:pathLst>
                <a:path h="1882179" w="10728793">
                  <a:moveTo>
                    <a:pt x="0" y="84182"/>
                  </a:moveTo>
                  <a:cubicBezTo>
                    <a:pt x="0" y="37702"/>
                    <a:pt x="130263" y="0"/>
                    <a:pt x="290857" y="0"/>
                  </a:cubicBezTo>
                  <a:lnTo>
                    <a:pt x="10437936" y="0"/>
                  </a:lnTo>
                  <a:cubicBezTo>
                    <a:pt x="10598613" y="0"/>
                    <a:pt x="10728793" y="37702"/>
                    <a:pt x="10728793" y="84182"/>
                  </a:cubicBezTo>
                  <a:lnTo>
                    <a:pt x="10728793" y="1797997"/>
                  </a:lnTo>
                  <a:cubicBezTo>
                    <a:pt x="10728793" y="1844501"/>
                    <a:pt x="10598529" y="1882179"/>
                    <a:pt x="10437936" y="1882179"/>
                  </a:cubicBezTo>
                  <a:lnTo>
                    <a:pt x="290857" y="1882179"/>
                  </a:lnTo>
                  <a:cubicBezTo>
                    <a:pt x="130263" y="1882179"/>
                    <a:pt x="0" y="1844501"/>
                    <a:pt x="0" y="179799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208" t="0" r="-94203" b="-425159"/>
              </a:stretch>
            </a:blipFill>
            <a:ln w="38100" cap="sq">
              <a:solidFill>
                <a:srgbClr val="012C71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5693757" y="8476308"/>
            <a:ext cx="747051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Develops an integrated system based on YOLOv12-BiFPN-ResCBAM for three tasks: barcode reading, dimension measurement, and damaged parcel detection.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610668"/>
            <a:ext cx="9317457" cy="667986"/>
            <a:chOff x="0" y="0"/>
            <a:chExt cx="12423276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23302" cy="890648"/>
            </a:xfrm>
            <a:custGeom>
              <a:avLst/>
              <a:gdLst/>
              <a:ahLst/>
              <a:cxnLst/>
              <a:rect r="r" b="b" t="t" l="l"/>
              <a:pathLst>
                <a:path h="890648" w="12423302">
                  <a:moveTo>
                    <a:pt x="0" y="123317"/>
                  </a:moveTo>
                  <a:cubicBezTo>
                    <a:pt x="0" y="55245"/>
                    <a:pt x="84014" y="0"/>
                    <a:pt x="187536" y="0"/>
                  </a:cubicBezTo>
                  <a:lnTo>
                    <a:pt x="12235780" y="0"/>
                  </a:lnTo>
                  <a:cubicBezTo>
                    <a:pt x="12339301" y="0"/>
                    <a:pt x="12423302" y="55245"/>
                    <a:pt x="12423302" y="123317"/>
                  </a:cubicBezTo>
                  <a:lnTo>
                    <a:pt x="12423302" y="767331"/>
                  </a:lnTo>
                  <a:cubicBezTo>
                    <a:pt x="12423302" y="835403"/>
                    <a:pt x="12339301" y="890648"/>
                    <a:pt x="12235780" y="890648"/>
                  </a:cubicBezTo>
                  <a:lnTo>
                    <a:pt x="187536" y="890648"/>
                  </a:lnTo>
                  <a:cubicBezTo>
                    <a:pt x="84014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423276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 spc="-55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2.2 Related Works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208598" y="2526304"/>
          <a:ext cx="15870803" cy="7314901"/>
        </p:xfrm>
        <a:graphic>
          <a:graphicData uri="http://schemas.openxmlformats.org/drawingml/2006/table">
            <a:tbl>
              <a:tblPr/>
              <a:tblGrid>
                <a:gridCol w="3174161"/>
                <a:gridCol w="3174161"/>
                <a:gridCol w="3174161"/>
                <a:gridCol w="3174161"/>
                <a:gridCol w="3174161"/>
              </a:tblGrid>
              <a:tr h="9047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Author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B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B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B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Disadvantages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B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Advantages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BBFF"/>
                    </a:solidFill>
                  </a:tcPr>
                </a:tc>
              </a:tr>
              <a:tr h="12937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TrOCR (Transformer)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Printed/handwritten text OCR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language-specific fine-tuning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accuracy, end-to-end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37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Fernandes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Perspective geometry + Laser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2D/3D dimension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Dependent on laser 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Clear mathematical foundation, automated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37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Peng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Laser Triangulation + DL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Depth &amp; volume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Expensive equipment costs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3D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937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 Van Thai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Stereo Vision (2 Cameras)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Classification &amp; 3D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Sensitive to lighting and occlusion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Non-contact measurement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51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 et 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YOLOv12-BiFPN-ResCBAM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Barcode, Dimension, Defect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Leaves handwritten OCR unaddressed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Multi-task, optimized for edge devices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58"/>
            <a:chOff x="0" y="0"/>
            <a:chExt cx="1479017" cy="1479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36"/>
            </a:xfrm>
            <a:custGeom>
              <a:avLst/>
              <a:gdLst/>
              <a:ahLst/>
              <a:cxnLst/>
              <a:rect r="r" b="b" t="t" l="l"/>
              <a:pathLst>
                <a:path h="1479036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1"/>
                  </a:lnTo>
                  <a:cubicBezTo>
                    <a:pt x="1479042" y="1431538"/>
                    <a:pt x="1431544" y="1479036"/>
                    <a:pt x="1372997" y="1479036"/>
                  </a:cubicBezTo>
                  <a:lnTo>
                    <a:pt x="106045" y="1479036"/>
                  </a:lnTo>
                  <a:cubicBezTo>
                    <a:pt x="47498" y="1479036"/>
                    <a:pt x="0" y="1431538"/>
                    <a:pt x="0" y="1372991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62253" y="-143322"/>
            <a:ext cx="9165469" cy="1654435"/>
            <a:chOff x="0" y="0"/>
            <a:chExt cx="12220626" cy="22059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2205917"/>
            </a:xfrm>
            <a:custGeom>
              <a:avLst/>
              <a:gdLst/>
              <a:ahLst/>
              <a:cxnLst/>
              <a:rect r="r" b="b" t="t" l="l"/>
              <a:pathLst>
                <a:path h="2205917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2205917"/>
                  </a:lnTo>
                  <a:lnTo>
                    <a:pt x="0" y="22059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24" r="0" b="-4996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205351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511113"/>
            <a:ext cx="9388202" cy="667986"/>
            <a:chOff x="0" y="0"/>
            <a:chExt cx="12517603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17628" cy="890648"/>
            </a:xfrm>
            <a:custGeom>
              <a:avLst/>
              <a:gdLst/>
              <a:ahLst/>
              <a:cxnLst/>
              <a:rect r="r" b="b" t="t" l="l"/>
              <a:pathLst>
                <a:path h="890648" w="12517628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12394311" y="0"/>
                  </a:lnTo>
                  <a:cubicBezTo>
                    <a:pt x="12462383" y="0"/>
                    <a:pt x="12517628" y="55245"/>
                    <a:pt x="12517628" y="123317"/>
                  </a:cubicBezTo>
                  <a:lnTo>
                    <a:pt x="12517628" y="767331"/>
                  </a:lnTo>
                  <a:cubicBezTo>
                    <a:pt x="12517628" y="835403"/>
                    <a:pt x="12462383" y="890648"/>
                    <a:pt x="12394311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517603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2.3 Research Gap &amp; Proposed Solution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4365" y="2804196"/>
            <a:ext cx="7385356" cy="682181"/>
            <a:chOff x="0" y="0"/>
            <a:chExt cx="9107424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07424" cy="841248"/>
            </a:xfrm>
            <a:custGeom>
              <a:avLst/>
              <a:gdLst/>
              <a:ahLst/>
              <a:cxnLst/>
              <a:rect r="r" b="b" t="t" l="l"/>
              <a:pathLst>
                <a:path h="841248" w="9107424">
                  <a:moveTo>
                    <a:pt x="0" y="0"/>
                  </a:moveTo>
                  <a:lnTo>
                    <a:pt x="9107424" y="0"/>
                  </a:lnTo>
                  <a:lnTo>
                    <a:pt x="910742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46" r="0" b="-1609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9107424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Research Gap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6625" y="3496416"/>
            <a:ext cx="8087953" cy="4398143"/>
            <a:chOff x="0" y="0"/>
            <a:chExt cx="9187868" cy="49962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87849" cy="4996128"/>
            </a:xfrm>
            <a:custGeom>
              <a:avLst/>
              <a:gdLst/>
              <a:ahLst/>
              <a:cxnLst/>
              <a:rect r="r" b="b" t="t" l="l"/>
              <a:pathLst>
                <a:path h="4996128" w="9187849">
                  <a:moveTo>
                    <a:pt x="0" y="223380"/>
                  </a:moveTo>
                  <a:cubicBezTo>
                    <a:pt x="0" y="100041"/>
                    <a:pt x="42153" y="0"/>
                    <a:pt x="94123" y="0"/>
                  </a:cubicBezTo>
                  <a:lnTo>
                    <a:pt x="9093726" y="0"/>
                  </a:lnTo>
                  <a:cubicBezTo>
                    <a:pt x="9145696" y="0"/>
                    <a:pt x="9187849" y="100041"/>
                    <a:pt x="9187849" y="223380"/>
                  </a:cubicBezTo>
                  <a:lnTo>
                    <a:pt x="9187849" y="4772748"/>
                  </a:lnTo>
                  <a:cubicBezTo>
                    <a:pt x="9187849" y="4896086"/>
                    <a:pt x="9145696" y="4996128"/>
                    <a:pt x="9093726" y="4996128"/>
                  </a:cubicBezTo>
                  <a:lnTo>
                    <a:pt x="94123" y="4996128"/>
                  </a:lnTo>
                  <a:cubicBezTo>
                    <a:pt x="42153" y="4996128"/>
                    <a:pt x="0" y="4896086"/>
                    <a:pt x="0" y="477274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83" r="-31961" b="24911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632146" y="3661487"/>
            <a:ext cx="7961976" cy="41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215" indent="-245107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Cost vs. Accuracy</a:t>
            </a:r>
            <a:r>
              <a:rPr lang="en-US" sz="2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High-precision measurement methods using geometry + lazer or lazer + deep learning are constrained by the high cost of expensive laser and depth camera equipment.</a:t>
            </a:r>
          </a:p>
          <a:p>
            <a:pPr algn="l" marL="490215" indent="-245107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Lack of Comprehensive Multi-Tasking</a:t>
            </a:r>
            <a:r>
              <a:rPr lang="en-US" sz="2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 existing system simultaneously integrates physical dimension measurement and Vietnamese handwritten text OCR to extract package information.</a:t>
            </a:r>
          </a:p>
          <a:p>
            <a:pPr algn="l" marL="490215" indent="-245107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Structuring Problem</a:t>
            </a:r>
            <a:r>
              <a:rPr lang="en-US" sz="2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Raw OCR lacks a label region classification workflow (Layout Analysis) to convert extracted text into structured data (Full Name, Address, Phone Number).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25682" y="3496416"/>
            <a:ext cx="8087953" cy="4398143"/>
            <a:chOff x="0" y="0"/>
            <a:chExt cx="9187868" cy="49962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87849" cy="4996128"/>
            </a:xfrm>
            <a:custGeom>
              <a:avLst/>
              <a:gdLst/>
              <a:ahLst/>
              <a:cxnLst/>
              <a:rect r="r" b="b" t="t" l="l"/>
              <a:pathLst>
                <a:path h="4996128" w="9187849">
                  <a:moveTo>
                    <a:pt x="0" y="223380"/>
                  </a:moveTo>
                  <a:cubicBezTo>
                    <a:pt x="0" y="100041"/>
                    <a:pt x="42153" y="0"/>
                    <a:pt x="94123" y="0"/>
                  </a:cubicBezTo>
                  <a:lnTo>
                    <a:pt x="9093726" y="0"/>
                  </a:lnTo>
                  <a:cubicBezTo>
                    <a:pt x="9145696" y="0"/>
                    <a:pt x="9187849" y="100041"/>
                    <a:pt x="9187849" y="223380"/>
                  </a:cubicBezTo>
                  <a:lnTo>
                    <a:pt x="9187849" y="4772748"/>
                  </a:lnTo>
                  <a:cubicBezTo>
                    <a:pt x="9187849" y="4896086"/>
                    <a:pt x="9145696" y="4996128"/>
                    <a:pt x="9093726" y="4996128"/>
                  </a:cubicBezTo>
                  <a:lnTo>
                    <a:pt x="94123" y="4996128"/>
                  </a:lnTo>
                  <a:cubicBezTo>
                    <a:pt x="42153" y="4996128"/>
                    <a:pt x="0" y="4896086"/>
                    <a:pt x="0" y="477274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83" r="-31961" b="24911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25682" y="2814235"/>
            <a:ext cx="7385356" cy="682181"/>
            <a:chOff x="0" y="0"/>
            <a:chExt cx="9107424" cy="8412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07424" cy="841248"/>
            </a:xfrm>
            <a:custGeom>
              <a:avLst/>
              <a:gdLst/>
              <a:ahLst/>
              <a:cxnLst/>
              <a:rect r="r" b="b" t="t" l="l"/>
              <a:pathLst>
                <a:path h="841248" w="9107424">
                  <a:moveTo>
                    <a:pt x="0" y="0"/>
                  </a:moveTo>
                  <a:lnTo>
                    <a:pt x="9107424" y="0"/>
                  </a:lnTo>
                  <a:lnTo>
                    <a:pt x="910742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46" r="0" b="-1609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9107424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Solution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625682" y="3671526"/>
            <a:ext cx="7943508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215" indent="-245107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</a:t>
            </a: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tegrated Multi-Tasking</a:t>
            </a:r>
            <a:r>
              <a:rPr lang="en-US" sz="2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Develop an end-to-end pipeline: Parcel Detection ➔ Dimension/Volume Measurement ➔ Vietnamese Handwritten Text OCR.</a:t>
            </a:r>
          </a:p>
          <a:p>
            <a:pPr algn="l" marL="490215" indent="-245107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</a:t>
            </a: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ardware Optimization</a:t>
            </a:r>
            <a:r>
              <a:rPr lang="en-US" sz="2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Utilize YOLO + Canny Edge + 2 standard cameras for dimension measurement, completely eliminating costly laser and depth camera hardware.</a:t>
            </a:r>
          </a:p>
          <a:p>
            <a:pPr algn="l" marL="490215" indent="-245107" lvl="1">
              <a:lnSpc>
                <a:spcPts val="272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Fine-Tuning Vietnamese TrOCR</a:t>
            </a:r>
            <a:r>
              <a:rPr lang="en-US" sz="2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Specialize the TrOCR model on realistic handwritten text data from Vietnamese postal shipping forms.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589703"/>
            <a:ext cx="5907822" cy="667986"/>
            <a:chOff x="0" y="0"/>
            <a:chExt cx="7877095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6994" cy="890648"/>
            </a:xfrm>
            <a:custGeom>
              <a:avLst/>
              <a:gdLst/>
              <a:ahLst/>
              <a:cxnLst/>
              <a:rect r="r" b="b" t="t" l="l"/>
              <a:pathLst>
                <a:path h="890648" w="7876994">
                  <a:moveTo>
                    <a:pt x="0" y="123317"/>
                  </a:moveTo>
                  <a:cubicBezTo>
                    <a:pt x="0" y="55245"/>
                    <a:pt x="73363" y="0"/>
                    <a:pt x="163760" y="0"/>
                  </a:cubicBezTo>
                  <a:lnTo>
                    <a:pt x="7713235" y="0"/>
                  </a:lnTo>
                  <a:cubicBezTo>
                    <a:pt x="7803631" y="0"/>
                    <a:pt x="7876994" y="55245"/>
                    <a:pt x="7876994" y="123317"/>
                  </a:cubicBezTo>
                  <a:lnTo>
                    <a:pt x="7876994" y="767331"/>
                  </a:lnTo>
                  <a:cubicBezTo>
                    <a:pt x="7876994" y="835403"/>
                    <a:pt x="7803631" y="890648"/>
                    <a:pt x="7713235" y="890648"/>
                  </a:cubicBezTo>
                  <a:lnTo>
                    <a:pt x="163760" y="890648"/>
                  </a:lnTo>
                  <a:cubicBezTo>
                    <a:pt x="73363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7877095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3.1 Business Process Analysis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52320" y="3278135"/>
            <a:ext cx="6698528" cy="3400885"/>
            <a:chOff x="0" y="0"/>
            <a:chExt cx="7072901" cy="359095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2964" cy="3591020"/>
            </a:xfrm>
            <a:custGeom>
              <a:avLst/>
              <a:gdLst/>
              <a:ahLst/>
              <a:cxnLst/>
              <a:rect r="r" b="b" t="t" l="l"/>
              <a:pathLst>
                <a:path h="3591020" w="7072964">
                  <a:moveTo>
                    <a:pt x="0" y="129485"/>
                  </a:moveTo>
                  <a:cubicBezTo>
                    <a:pt x="0" y="57948"/>
                    <a:pt x="141598" y="0"/>
                    <a:pt x="316405" y="0"/>
                  </a:cubicBezTo>
                  <a:lnTo>
                    <a:pt x="6756574" y="0"/>
                  </a:lnTo>
                  <a:cubicBezTo>
                    <a:pt x="6931226" y="0"/>
                    <a:pt x="7072964" y="57948"/>
                    <a:pt x="7072964" y="129485"/>
                  </a:cubicBezTo>
                  <a:lnTo>
                    <a:pt x="7072964" y="3461503"/>
                  </a:lnTo>
                  <a:cubicBezTo>
                    <a:pt x="7072964" y="3532978"/>
                    <a:pt x="6931380" y="3591020"/>
                    <a:pt x="6756574" y="3591020"/>
                  </a:cubicBezTo>
                  <a:lnTo>
                    <a:pt x="316405" y="3591020"/>
                  </a:lnTo>
                  <a:cubicBezTo>
                    <a:pt x="141598" y="3590925"/>
                    <a:pt x="0" y="3532978"/>
                    <a:pt x="0" y="346150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182" t="0" r="-72786" b="-101846"/>
              </a:stretch>
            </a:blipFill>
            <a:ln w="38100" cap="sq">
              <a:solidFill>
                <a:srgbClr val="012C71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52320" y="3278135"/>
            <a:ext cx="6698528" cy="939887"/>
            <a:chOff x="0" y="0"/>
            <a:chExt cx="8931370" cy="12531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931370" cy="1253130"/>
            </a:xfrm>
            <a:custGeom>
              <a:avLst/>
              <a:gdLst/>
              <a:ahLst/>
              <a:cxnLst/>
              <a:rect r="r" b="b" t="t" l="l"/>
              <a:pathLst>
                <a:path h="1253130" w="8931370">
                  <a:moveTo>
                    <a:pt x="0" y="194338"/>
                  </a:moveTo>
                  <a:cubicBezTo>
                    <a:pt x="0" y="86931"/>
                    <a:pt x="97310" y="0"/>
                    <a:pt x="217540" y="0"/>
                  </a:cubicBezTo>
                  <a:lnTo>
                    <a:pt x="8713830" y="0"/>
                  </a:lnTo>
                  <a:cubicBezTo>
                    <a:pt x="8834060" y="0"/>
                    <a:pt x="8931370" y="86931"/>
                    <a:pt x="8931370" y="194338"/>
                  </a:cubicBezTo>
                  <a:lnTo>
                    <a:pt x="8931370" y="1058793"/>
                  </a:lnTo>
                  <a:cubicBezTo>
                    <a:pt x="8931370" y="1166199"/>
                    <a:pt x="8834060" y="1253130"/>
                    <a:pt x="8713830" y="1253130"/>
                  </a:cubicBezTo>
                  <a:lnTo>
                    <a:pt x="217540" y="1253130"/>
                  </a:lnTo>
                  <a:cubicBezTo>
                    <a:pt x="97310" y="1253130"/>
                    <a:pt x="0" y="1166199"/>
                    <a:pt x="0" y="1058793"/>
                  </a:cubicBezTo>
                  <a:close/>
                </a:path>
              </a:pathLst>
            </a:custGeom>
            <a:solidFill>
              <a:srgbClr val="F0F8FE"/>
            </a:solidFill>
            <a:ln w="38100" cap="sq">
              <a:solidFill>
                <a:srgbClr val="012C7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8931370" cy="12722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  <a:r>
                <a:rPr lang="en-US" b="true" sz="3399" spc="-67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Current</a:t>
              </a:r>
              <a:r>
                <a:rPr lang="en-US" b="true" sz="3399" spc="-67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process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6950847" y="1348322"/>
            <a:ext cx="11337153" cy="8389493"/>
          </a:xfrm>
          <a:custGeom>
            <a:avLst/>
            <a:gdLst/>
            <a:ahLst/>
            <a:cxnLst/>
            <a:rect r="r" b="b" t="t" l="l"/>
            <a:pathLst>
              <a:path h="8389493" w="11337153">
                <a:moveTo>
                  <a:pt x="0" y="0"/>
                </a:moveTo>
                <a:lnTo>
                  <a:pt x="11337153" y="0"/>
                </a:lnTo>
                <a:lnTo>
                  <a:pt x="11337153" y="8389493"/>
                </a:lnTo>
                <a:lnTo>
                  <a:pt x="0" y="83894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67480" y="4486222"/>
            <a:ext cx="6068208" cy="186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current system involves multiple small steps that must be performed manually, resulting in significant time consumption (6–8 minutes per order) and a high risk of errors.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610668"/>
            <a:ext cx="4448804" cy="667986"/>
            <a:chOff x="0" y="0"/>
            <a:chExt cx="5931738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31662" cy="890648"/>
            </a:xfrm>
            <a:custGeom>
              <a:avLst/>
              <a:gdLst/>
              <a:ahLst/>
              <a:cxnLst/>
              <a:rect r="r" b="b" t="t" l="l"/>
              <a:pathLst>
                <a:path h="890648" w="5931662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5808345" y="0"/>
                  </a:lnTo>
                  <a:cubicBezTo>
                    <a:pt x="5876417" y="0"/>
                    <a:pt x="5931662" y="55245"/>
                    <a:pt x="5931662" y="123317"/>
                  </a:cubicBezTo>
                  <a:lnTo>
                    <a:pt x="5931662" y="767331"/>
                  </a:lnTo>
                  <a:cubicBezTo>
                    <a:pt x="5931662" y="835403"/>
                    <a:pt x="5876417" y="890648"/>
                    <a:pt x="5808345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931738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3.2 Overall Framework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498260" y="1944662"/>
            <a:ext cx="12569901" cy="7874994"/>
          </a:xfrm>
          <a:custGeom>
            <a:avLst/>
            <a:gdLst/>
            <a:ahLst/>
            <a:cxnLst/>
            <a:rect r="r" b="b" t="t" l="l"/>
            <a:pathLst>
              <a:path h="7874994" w="12569901">
                <a:moveTo>
                  <a:pt x="0" y="0"/>
                </a:moveTo>
                <a:lnTo>
                  <a:pt x="12569901" y="0"/>
                </a:lnTo>
                <a:lnTo>
                  <a:pt x="12569901" y="7874994"/>
                </a:lnTo>
                <a:lnTo>
                  <a:pt x="0" y="78749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75" r="0" b="-1875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119" y="2583456"/>
            <a:ext cx="11669092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supporting sorting, handwritten text recognition, volume calculation, fee calculation, and data storage.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29" y="1810707"/>
            <a:ext cx="8915771" cy="667986"/>
            <a:chOff x="0" y="0"/>
            <a:chExt cx="11887695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887592" cy="890648"/>
            </a:xfrm>
            <a:custGeom>
              <a:avLst/>
              <a:gdLst/>
              <a:ahLst/>
              <a:cxnLst/>
              <a:rect r="r" b="b" t="t" l="l"/>
              <a:pathLst>
                <a:path h="890648" w="11887592">
                  <a:moveTo>
                    <a:pt x="0" y="123317"/>
                  </a:moveTo>
                  <a:cubicBezTo>
                    <a:pt x="0" y="55245"/>
                    <a:pt x="89832" y="0"/>
                    <a:pt x="200522" y="0"/>
                  </a:cubicBezTo>
                  <a:lnTo>
                    <a:pt x="11687070" y="0"/>
                  </a:lnTo>
                  <a:cubicBezTo>
                    <a:pt x="11797760" y="0"/>
                    <a:pt x="11887592" y="55245"/>
                    <a:pt x="11887592" y="123317"/>
                  </a:cubicBezTo>
                  <a:lnTo>
                    <a:pt x="11887592" y="767331"/>
                  </a:lnTo>
                  <a:cubicBezTo>
                    <a:pt x="11887592" y="835403"/>
                    <a:pt x="11797760" y="890648"/>
                    <a:pt x="11687070" y="890648"/>
                  </a:cubicBezTo>
                  <a:lnTo>
                    <a:pt x="200522" y="890648"/>
                  </a:lnTo>
                  <a:cubicBezTo>
                    <a:pt x="89832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1887695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3.3 Handwriting Extraction and Recognition Module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4312" y="4132239"/>
            <a:ext cx="3127914" cy="4133849"/>
            <a:chOff x="0" y="0"/>
            <a:chExt cx="4170553" cy="5511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70553" cy="5511800"/>
            </a:xfrm>
            <a:custGeom>
              <a:avLst/>
              <a:gdLst/>
              <a:ahLst/>
              <a:cxnLst/>
              <a:rect r="r" b="b" t="t" l="l"/>
              <a:pathLst>
                <a:path h="5511800" w="417055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023360" y="0"/>
                  </a:lnTo>
                  <a:cubicBezTo>
                    <a:pt x="4104640" y="0"/>
                    <a:pt x="4170553" y="65913"/>
                    <a:pt x="4170553" y="147193"/>
                  </a:cubicBezTo>
                  <a:lnTo>
                    <a:pt x="4170553" y="5364607"/>
                  </a:lnTo>
                  <a:cubicBezTo>
                    <a:pt x="4170553" y="5445887"/>
                    <a:pt x="4104640" y="5511800"/>
                    <a:pt x="4023360" y="5511800"/>
                  </a:cubicBezTo>
                  <a:lnTo>
                    <a:pt x="147193" y="5511800"/>
                  </a:lnTo>
                  <a:cubicBezTo>
                    <a:pt x="65913" y="5511800"/>
                    <a:pt x="0" y="5445887"/>
                    <a:pt x="0" y="5364607"/>
                  </a:cubicBezTo>
                  <a:close/>
                </a:path>
              </a:pathLst>
            </a:custGeom>
            <a:solidFill>
              <a:srgbClr val="EAF0FB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08157" y="4388652"/>
            <a:ext cx="576072" cy="576072"/>
            <a:chOff x="0" y="0"/>
            <a:chExt cx="768096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731601" y="4512096"/>
            <a:ext cx="329184" cy="329184"/>
            <a:chOff x="0" y="0"/>
            <a:chExt cx="438912" cy="438912"/>
          </a:xfrm>
        </p:grpSpPr>
        <p:sp>
          <p:nvSpPr>
            <p:cNvPr name="Freeform 20" id="20" descr="/home/claude/pptx_work/icons/FaObjectGroup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6253" y="4361220"/>
            <a:ext cx="1778412" cy="630936"/>
            <a:chOff x="0" y="0"/>
            <a:chExt cx="2371217" cy="841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71222" cy="841248"/>
            </a:xfrm>
            <a:custGeom>
              <a:avLst/>
              <a:gdLst/>
              <a:ahLst/>
              <a:cxnLst/>
              <a:rect r="r" b="b" t="t" l="l"/>
              <a:pathLst>
                <a:path h="841248" w="2371222">
                  <a:moveTo>
                    <a:pt x="0" y="0"/>
                  </a:moveTo>
                  <a:lnTo>
                    <a:pt x="2371222" y="0"/>
                  </a:lnTo>
                  <a:lnTo>
                    <a:pt x="237122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2" r="0" b="-49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371217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Classify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35589" y="5034066"/>
            <a:ext cx="2505360" cy="460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99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Envelope vs. Parcel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33837" y="7170713"/>
            <a:ext cx="310886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8C97A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YOLOv11n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776076" y="4132239"/>
            <a:ext cx="3127914" cy="4133849"/>
            <a:chOff x="0" y="0"/>
            <a:chExt cx="4170553" cy="5511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70553" cy="5511800"/>
            </a:xfrm>
            <a:custGeom>
              <a:avLst/>
              <a:gdLst/>
              <a:ahLst/>
              <a:cxnLst/>
              <a:rect r="r" b="b" t="t" l="l"/>
              <a:pathLst>
                <a:path h="5511800" w="417055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023360" y="0"/>
                  </a:lnTo>
                  <a:cubicBezTo>
                    <a:pt x="4104640" y="0"/>
                    <a:pt x="4170553" y="65913"/>
                    <a:pt x="4170553" y="147193"/>
                  </a:cubicBezTo>
                  <a:lnTo>
                    <a:pt x="4170553" y="5364607"/>
                  </a:lnTo>
                  <a:cubicBezTo>
                    <a:pt x="4170553" y="5445887"/>
                    <a:pt x="4104640" y="5511800"/>
                    <a:pt x="4023360" y="5511800"/>
                  </a:cubicBezTo>
                  <a:lnTo>
                    <a:pt x="147193" y="5511800"/>
                  </a:lnTo>
                  <a:cubicBezTo>
                    <a:pt x="65913" y="5511800"/>
                    <a:pt x="0" y="5445887"/>
                    <a:pt x="0" y="5364607"/>
                  </a:cubicBezTo>
                  <a:close/>
                </a:path>
              </a:pathLst>
            </a:custGeom>
            <a:solidFill>
              <a:srgbClr val="FDEEE2"/>
            </a:solidFill>
            <a:ln w="19050" cap="sq">
              <a:solidFill>
                <a:srgbClr val="F6CDB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059921" y="4388652"/>
            <a:ext cx="576072" cy="576072"/>
            <a:chOff x="0" y="0"/>
            <a:chExt cx="768096" cy="7680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E8622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183365" y="4512096"/>
            <a:ext cx="329184" cy="329184"/>
            <a:chOff x="0" y="0"/>
            <a:chExt cx="438912" cy="438912"/>
          </a:xfrm>
        </p:grpSpPr>
        <p:sp>
          <p:nvSpPr>
            <p:cNvPr name="Freeform 31" id="31" descr="/home/claude/pptx_work/icons/FaVectorSquare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828017" y="4361220"/>
            <a:ext cx="1778412" cy="630936"/>
            <a:chOff x="0" y="0"/>
            <a:chExt cx="2371217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71222" cy="841248"/>
            </a:xfrm>
            <a:custGeom>
              <a:avLst/>
              <a:gdLst/>
              <a:ahLst/>
              <a:cxnLst/>
              <a:rect r="r" b="b" t="t" l="l"/>
              <a:pathLst>
                <a:path h="841248" w="2371222">
                  <a:moveTo>
                    <a:pt x="0" y="0"/>
                  </a:moveTo>
                  <a:lnTo>
                    <a:pt x="2371222" y="0"/>
                  </a:lnTo>
                  <a:lnTo>
                    <a:pt x="237122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2" r="0" b="-492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2371217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E862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Localize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087353" y="5034066"/>
            <a:ext cx="2505360" cy="87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99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Information-label region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785601" y="7170713"/>
            <a:ext cx="310886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8C97A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YOLOv11n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227849" y="4132239"/>
            <a:ext cx="3127914" cy="4133849"/>
            <a:chOff x="0" y="0"/>
            <a:chExt cx="4170553" cy="551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70553" cy="5511800"/>
            </a:xfrm>
            <a:custGeom>
              <a:avLst/>
              <a:gdLst/>
              <a:ahLst/>
              <a:cxnLst/>
              <a:rect r="r" b="b" t="t" l="l"/>
              <a:pathLst>
                <a:path h="5511800" w="417055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023360" y="0"/>
                  </a:lnTo>
                  <a:cubicBezTo>
                    <a:pt x="4104640" y="0"/>
                    <a:pt x="4170553" y="65913"/>
                    <a:pt x="4170553" y="147193"/>
                  </a:cubicBezTo>
                  <a:lnTo>
                    <a:pt x="4170553" y="5364607"/>
                  </a:lnTo>
                  <a:cubicBezTo>
                    <a:pt x="4170553" y="5445887"/>
                    <a:pt x="4104640" y="5511800"/>
                    <a:pt x="4023360" y="5511800"/>
                  </a:cubicBezTo>
                  <a:lnTo>
                    <a:pt x="147193" y="5511800"/>
                  </a:lnTo>
                  <a:cubicBezTo>
                    <a:pt x="65913" y="5511800"/>
                    <a:pt x="0" y="5445887"/>
                    <a:pt x="0" y="5364607"/>
                  </a:cubicBezTo>
                  <a:close/>
                </a:path>
              </a:pathLst>
            </a:custGeom>
            <a:solidFill>
              <a:srgbClr val="EAF0FB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511694" y="4388652"/>
            <a:ext cx="576072" cy="576072"/>
            <a:chOff x="0" y="0"/>
            <a:chExt cx="768096" cy="7680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35138" y="4512096"/>
            <a:ext cx="329184" cy="329184"/>
            <a:chOff x="0" y="0"/>
            <a:chExt cx="438912" cy="438912"/>
          </a:xfrm>
        </p:grpSpPr>
        <p:sp>
          <p:nvSpPr>
            <p:cNvPr name="Freeform 42" id="42" descr="/home/claude/pptx_work/icons/FaEye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79790" y="4361220"/>
            <a:ext cx="1778412" cy="630936"/>
            <a:chOff x="0" y="0"/>
            <a:chExt cx="2371217" cy="8412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71222" cy="841248"/>
            </a:xfrm>
            <a:custGeom>
              <a:avLst/>
              <a:gdLst/>
              <a:ahLst/>
              <a:cxnLst/>
              <a:rect r="r" b="b" t="t" l="l"/>
              <a:pathLst>
                <a:path h="841248" w="2371222">
                  <a:moveTo>
                    <a:pt x="0" y="0"/>
                  </a:moveTo>
                  <a:lnTo>
                    <a:pt x="2371222" y="0"/>
                  </a:lnTo>
                  <a:lnTo>
                    <a:pt x="2371222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2" r="0" b="-492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371217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Detect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539126" y="5034066"/>
            <a:ext cx="2505360" cy="87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99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Text-region bounding boxes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237374" y="7170713"/>
            <a:ext cx="310886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8C97A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EasyOCR (detection only)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679613" y="4132239"/>
            <a:ext cx="3127914" cy="4133849"/>
            <a:chOff x="0" y="0"/>
            <a:chExt cx="4170553" cy="5511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70553" cy="5511800"/>
            </a:xfrm>
            <a:custGeom>
              <a:avLst/>
              <a:gdLst/>
              <a:ahLst/>
              <a:cxnLst/>
              <a:rect r="r" b="b" t="t" l="l"/>
              <a:pathLst>
                <a:path h="5511800" w="417055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023360" y="0"/>
                  </a:lnTo>
                  <a:cubicBezTo>
                    <a:pt x="4104640" y="0"/>
                    <a:pt x="4170553" y="65913"/>
                    <a:pt x="4170553" y="147193"/>
                  </a:cubicBezTo>
                  <a:lnTo>
                    <a:pt x="4170553" y="5364607"/>
                  </a:lnTo>
                  <a:cubicBezTo>
                    <a:pt x="4170553" y="5445887"/>
                    <a:pt x="4104640" y="5511800"/>
                    <a:pt x="4023360" y="5511800"/>
                  </a:cubicBezTo>
                  <a:lnTo>
                    <a:pt x="147193" y="5511800"/>
                  </a:lnTo>
                  <a:cubicBezTo>
                    <a:pt x="65913" y="5511800"/>
                    <a:pt x="0" y="5445887"/>
                    <a:pt x="0" y="5364607"/>
                  </a:cubicBezTo>
                  <a:close/>
                </a:path>
              </a:pathLst>
            </a:custGeom>
            <a:solidFill>
              <a:srgbClr val="FDEEE2"/>
            </a:solidFill>
            <a:ln w="19050" cap="sq">
              <a:solidFill>
                <a:srgbClr val="F6CDB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963458" y="4388652"/>
            <a:ext cx="576072" cy="576072"/>
            <a:chOff x="0" y="0"/>
            <a:chExt cx="768096" cy="7680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E8622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086902" y="4512096"/>
            <a:ext cx="329184" cy="329184"/>
            <a:chOff x="0" y="0"/>
            <a:chExt cx="438912" cy="438912"/>
          </a:xfrm>
        </p:grpSpPr>
        <p:sp>
          <p:nvSpPr>
            <p:cNvPr name="Freeform 53" id="53" descr="/home/claude/pptx_work/icons/FaFont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30030" y="4333788"/>
            <a:ext cx="2066448" cy="630936"/>
            <a:chOff x="0" y="0"/>
            <a:chExt cx="2755265" cy="8412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55270" cy="841248"/>
            </a:xfrm>
            <a:custGeom>
              <a:avLst/>
              <a:gdLst/>
              <a:ahLst/>
              <a:cxnLst/>
              <a:rect r="r" b="b" t="t" l="l"/>
              <a:pathLst>
                <a:path h="841248" w="2755270">
                  <a:moveTo>
                    <a:pt x="0" y="0"/>
                  </a:moveTo>
                  <a:lnTo>
                    <a:pt x="2755270" y="0"/>
                  </a:lnTo>
                  <a:lnTo>
                    <a:pt x="275527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22" r="13938" b="-492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755265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E862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Recognize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990890" y="5034066"/>
            <a:ext cx="2505360" cy="87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99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Handwritten characters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689138" y="7170713"/>
            <a:ext cx="310886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8C97A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Fine-tuned TrOCR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4131386" y="4132239"/>
            <a:ext cx="3127914" cy="4133849"/>
            <a:chOff x="0" y="0"/>
            <a:chExt cx="4170553" cy="5511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70553" cy="5511800"/>
            </a:xfrm>
            <a:custGeom>
              <a:avLst/>
              <a:gdLst/>
              <a:ahLst/>
              <a:cxnLst/>
              <a:rect r="r" b="b" t="t" l="l"/>
              <a:pathLst>
                <a:path h="5511800" w="417055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023360" y="0"/>
                  </a:lnTo>
                  <a:cubicBezTo>
                    <a:pt x="4104640" y="0"/>
                    <a:pt x="4170553" y="65913"/>
                    <a:pt x="4170553" y="147193"/>
                  </a:cubicBezTo>
                  <a:lnTo>
                    <a:pt x="4170553" y="5364607"/>
                  </a:lnTo>
                  <a:cubicBezTo>
                    <a:pt x="4170553" y="5445887"/>
                    <a:pt x="4104640" y="5511800"/>
                    <a:pt x="4023360" y="5511800"/>
                  </a:cubicBezTo>
                  <a:lnTo>
                    <a:pt x="147193" y="5511800"/>
                  </a:lnTo>
                  <a:cubicBezTo>
                    <a:pt x="65913" y="5511800"/>
                    <a:pt x="0" y="5445887"/>
                    <a:pt x="0" y="5364607"/>
                  </a:cubicBezTo>
                  <a:close/>
                </a:path>
              </a:pathLst>
            </a:custGeom>
            <a:solidFill>
              <a:srgbClr val="EAF0FB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415231" y="4388652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538675" y="4512096"/>
            <a:ext cx="329184" cy="329184"/>
            <a:chOff x="0" y="0"/>
            <a:chExt cx="438912" cy="438912"/>
          </a:xfrm>
        </p:grpSpPr>
        <p:sp>
          <p:nvSpPr>
            <p:cNvPr name="Freeform 64" id="64" descr="/home/claude/pptx_work/icons/FaLanguage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5181803" y="4167054"/>
            <a:ext cx="1961598" cy="1019268"/>
            <a:chOff x="0" y="0"/>
            <a:chExt cx="2615464" cy="13590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615469" cy="1359024"/>
            </a:xfrm>
            <a:custGeom>
              <a:avLst/>
              <a:gdLst/>
              <a:ahLst/>
              <a:cxnLst/>
              <a:rect r="r" b="b" t="t" l="l"/>
              <a:pathLst>
                <a:path h="1359024" w="2615469">
                  <a:moveTo>
                    <a:pt x="0" y="0"/>
                  </a:moveTo>
                  <a:lnTo>
                    <a:pt x="2615469" y="0"/>
                  </a:lnTo>
                  <a:lnTo>
                    <a:pt x="2615469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6" r="9338" b="3505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2615464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Normalize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4442663" y="5034066"/>
            <a:ext cx="2505360" cy="87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99">
                <a:solidFill>
                  <a:srgbClr val="232323"/>
                </a:solidFill>
                <a:latin typeface="Calibri (MS)"/>
                <a:ea typeface="Calibri (MS)"/>
                <a:cs typeface="Calibri (MS)"/>
                <a:sym typeface="Calibri (MS)"/>
              </a:rPr>
              <a:t>Raw text into structured JSON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140911" y="7170713"/>
            <a:ext cx="310886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2899" i="true">
                <a:solidFill>
                  <a:srgbClr val="8C97A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Claude API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29" y="1789369"/>
            <a:ext cx="10517962" cy="667986"/>
            <a:chOff x="0" y="0"/>
            <a:chExt cx="1402395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3828" cy="890648"/>
            </a:xfrm>
            <a:custGeom>
              <a:avLst/>
              <a:gdLst/>
              <a:ahLst/>
              <a:cxnLst/>
              <a:rect r="r" b="b" t="t" l="l"/>
              <a:pathLst>
                <a:path h="890648" w="14023828">
                  <a:moveTo>
                    <a:pt x="0" y="123317"/>
                  </a:moveTo>
                  <a:cubicBezTo>
                    <a:pt x="0" y="55245"/>
                    <a:pt x="105975" y="0"/>
                    <a:pt x="236556" y="0"/>
                  </a:cubicBezTo>
                  <a:lnTo>
                    <a:pt x="13787272" y="0"/>
                  </a:lnTo>
                  <a:cubicBezTo>
                    <a:pt x="13917853" y="0"/>
                    <a:pt x="14023828" y="55245"/>
                    <a:pt x="14023828" y="123317"/>
                  </a:cubicBezTo>
                  <a:lnTo>
                    <a:pt x="14023828" y="767331"/>
                  </a:lnTo>
                  <a:cubicBezTo>
                    <a:pt x="14023828" y="835403"/>
                    <a:pt x="13917853" y="890648"/>
                    <a:pt x="13787272" y="890648"/>
                  </a:cubicBezTo>
                  <a:lnTo>
                    <a:pt x="236556" y="890648"/>
                  </a:lnTo>
                  <a:cubicBezTo>
                    <a:pt x="10597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2395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3.3.1 Classification &amp; Information-Region Localization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0559" y="2658280"/>
            <a:ext cx="6830568" cy="630936"/>
            <a:chOff x="0" y="0"/>
            <a:chExt cx="9107424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07424" cy="841248"/>
            </a:xfrm>
            <a:custGeom>
              <a:avLst/>
              <a:gdLst/>
              <a:ahLst/>
              <a:cxnLst/>
              <a:rect r="r" b="b" t="t" l="l"/>
              <a:pathLst>
                <a:path h="841248" w="9107424">
                  <a:moveTo>
                    <a:pt x="0" y="0"/>
                  </a:moveTo>
                  <a:lnTo>
                    <a:pt x="9107424" y="0"/>
                  </a:lnTo>
                  <a:lnTo>
                    <a:pt x="910742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46" r="0" b="-1609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107424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1: Envelope/parcel classification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5400000">
            <a:off x="13022057" y="5364087"/>
            <a:ext cx="3259918" cy="4346558"/>
          </a:xfrm>
          <a:custGeom>
            <a:avLst/>
            <a:gdLst/>
            <a:ahLst/>
            <a:cxnLst/>
            <a:rect r="r" b="b" t="t" l="l"/>
            <a:pathLst>
              <a:path h="4346558" w="3259918">
                <a:moveTo>
                  <a:pt x="0" y="0"/>
                </a:moveTo>
                <a:lnTo>
                  <a:pt x="3259918" y="0"/>
                </a:lnTo>
                <a:lnTo>
                  <a:pt x="3259918" y="4346558"/>
                </a:lnTo>
                <a:lnTo>
                  <a:pt x="0" y="4346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5400000">
            <a:off x="12994011" y="1566603"/>
            <a:ext cx="3259918" cy="4783529"/>
          </a:xfrm>
          <a:custGeom>
            <a:avLst/>
            <a:gdLst/>
            <a:ahLst/>
            <a:cxnLst/>
            <a:rect r="r" b="b" t="t" l="l"/>
            <a:pathLst>
              <a:path h="4783529" w="3259918">
                <a:moveTo>
                  <a:pt x="0" y="0"/>
                </a:moveTo>
                <a:lnTo>
                  <a:pt x="3259918" y="0"/>
                </a:lnTo>
                <a:lnTo>
                  <a:pt x="3259918" y="4783529"/>
                </a:lnTo>
                <a:lnTo>
                  <a:pt x="0" y="47835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484" r="0" b="-21864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2178" y="3313415"/>
            <a:ext cx="11691899" cy="5386858"/>
            <a:chOff x="0" y="0"/>
            <a:chExt cx="10488854" cy="48325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88854" cy="4832564"/>
            </a:xfrm>
            <a:custGeom>
              <a:avLst/>
              <a:gdLst/>
              <a:ahLst/>
              <a:cxnLst/>
              <a:rect r="r" b="b" t="t" l="l"/>
              <a:pathLst>
                <a:path h="4832564" w="10488854">
                  <a:moveTo>
                    <a:pt x="0" y="131163"/>
                  </a:moveTo>
                  <a:cubicBezTo>
                    <a:pt x="0" y="58762"/>
                    <a:pt x="62082" y="0"/>
                    <a:pt x="138572" y="0"/>
                  </a:cubicBezTo>
                  <a:lnTo>
                    <a:pt x="10350282" y="0"/>
                  </a:lnTo>
                  <a:cubicBezTo>
                    <a:pt x="10426772" y="0"/>
                    <a:pt x="10488854" y="58762"/>
                    <a:pt x="10488854" y="131163"/>
                  </a:cubicBezTo>
                  <a:lnTo>
                    <a:pt x="10488854" y="4701401"/>
                  </a:lnTo>
                  <a:cubicBezTo>
                    <a:pt x="10488854" y="4773801"/>
                    <a:pt x="10426772" y="4832564"/>
                    <a:pt x="10350282" y="4832564"/>
                  </a:cubicBezTo>
                  <a:lnTo>
                    <a:pt x="138572" y="4832564"/>
                  </a:lnTo>
                  <a:cubicBezTo>
                    <a:pt x="62082" y="4832564"/>
                    <a:pt x="0" y="4773902"/>
                    <a:pt x="0" y="4701401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783" r="0" b="-8783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90559" y="3384466"/>
            <a:ext cx="11240481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 </a:t>
            </a: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Processes original input images and classifies postal items into two main categories: Box or Envelope.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0559" y="4441741"/>
            <a:ext cx="11240481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preparation: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Classes: Filtered to keep 2 core categories (Label-Box, Label-Envelope).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Augmentation: Expanded training set to 1,050 samples using vertical flip, ±15° rotation, and ±15° brightness adjustments.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Resizing: All images resized to 640 × 640.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Partitioning: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3344" y="7242091"/>
            <a:ext cx="448076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Set: 1,050 samples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Set: 44 samples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Set: 44 samples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29" y="1789369"/>
            <a:ext cx="10517962" cy="667986"/>
            <a:chOff x="0" y="0"/>
            <a:chExt cx="1402395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3828" cy="890648"/>
            </a:xfrm>
            <a:custGeom>
              <a:avLst/>
              <a:gdLst/>
              <a:ahLst/>
              <a:cxnLst/>
              <a:rect r="r" b="b" t="t" l="l"/>
              <a:pathLst>
                <a:path h="890648" w="14023828">
                  <a:moveTo>
                    <a:pt x="0" y="123317"/>
                  </a:moveTo>
                  <a:cubicBezTo>
                    <a:pt x="0" y="55245"/>
                    <a:pt x="105975" y="0"/>
                    <a:pt x="236556" y="0"/>
                  </a:cubicBezTo>
                  <a:lnTo>
                    <a:pt x="13787272" y="0"/>
                  </a:lnTo>
                  <a:cubicBezTo>
                    <a:pt x="13917853" y="0"/>
                    <a:pt x="14023828" y="55245"/>
                    <a:pt x="14023828" y="123317"/>
                  </a:cubicBezTo>
                  <a:lnTo>
                    <a:pt x="14023828" y="767331"/>
                  </a:lnTo>
                  <a:cubicBezTo>
                    <a:pt x="14023828" y="835403"/>
                    <a:pt x="13917853" y="890648"/>
                    <a:pt x="13787272" y="890648"/>
                  </a:cubicBezTo>
                  <a:lnTo>
                    <a:pt x="236556" y="890648"/>
                  </a:lnTo>
                  <a:cubicBezTo>
                    <a:pt x="10597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2395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3.3.1 Classification &amp; Information-Region Localization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0559" y="2658280"/>
            <a:ext cx="6830568" cy="630936"/>
            <a:chOff x="0" y="0"/>
            <a:chExt cx="9107424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07424" cy="841248"/>
            </a:xfrm>
            <a:custGeom>
              <a:avLst/>
              <a:gdLst/>
              <a:ahLst/>
              <a:cxnLst/>
              <a:rect r="r" b="b" t="t" l="l"/>
              <a:pathLst>
                <a:path h="841248" w="9107424">
                  <a:moveTo>
                    <a:pt x="0" y="0"/>
                  </a:moveTo>
                  <a:lnTo>
                    <a:pt x="9107424" y="0"/>
                  </a:lnTo>
                  <a:lnTo>
                    <a:pt x="910742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46" r="0" b="-1609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107424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2: Information-region localization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72178" y="3313415"/>
            <a:ext cx="13178147" cy="5315215"/>
            <a:chOff x="0" y="0"/>
            <a:chExt cx="11822173" cy="47683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822173" cy="4768293"/>
            </a:xfrm>
            <a:custGeom>
              <a:avLst/>
              <a:gdLst/>
              <a:ahLst/>
              <a:cxnLst/>
              <a:rect r="r" b="b" t="t" l="l"/>
              <a:pathLst>
                <a:path h="4768293" w="11822173">
                  <a:moveTo>
                    <a:pt x="0" y="129418"/>
                  </a:moveTo>
                  <a:cubicBezTo>
                    <a:pt x="0" y="57981"/>
                    <a:pt x="69973" y="0"/>
                    <a:pt x="156187" y="0"/>
                  </a:cubicBezTo>
                  <a:lnTo>
                    <a:pt x="11665986" y="0"/>
                  </a:lnTo>
                  <a:cubicBezTo>
                    <a:pt x="11752200" y="0"/>
                    <a:pt x="11822173" y="57981"/>
                    <a:pt x="11822173" y="129418"/>
                  </a:cubicBezTo>
                  <a:lnTo>
                    <a:pt x="11822173" y="4638874"/>
                  </a:lnTo>
                  <a:cubicBezTo>
                    <a:pt x="11822173" y="4710312"/>
                    <a:pt x="11752200" y="4768293"/>
                    <a:pt x="11665986" y="4768293"/>
                  </a:cubicBezTo>
                  <a:lnTo>
                    <a:pt x="156187" y="4768293"/>
                  </a:lnTo>
                  <a:cubicBezTo>
                    <a:pt x="69973" y="4768293"/>
                    <a:pt x="0" y="4710411"/>
                    <a:pt x="0" y="463887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148" r="0" b="-17148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823960" y="6911928"/>
            <a:ext cx="11918975" cy="3024440"/>
          </a:xfrm>
          <a:custGeom>
            <a:avLst/>
            <a:gdLst/>
            <a:ahLst/>
            <a:cxnLst/>
            <a:rect r="r" b="b" t="t" l="l"/>
            <a:pathLst>
              <a:path h="3024440" w="11918975">
                <a:moveTo>
                  <a:pt x="0" y="0"/>
                </a:moveTo>
                <a:lnTo>
                  <a:pt x="11918974" y="0"/>
                </a:lnTo>
                <a:lnTo>
                  <a:pt x="11918974" y="3024440"/>
                </a:lnTo>
                <a:lnTo>
                  <a:pt x="0" y="3024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90559" y="3384466"/>
            <a:ext cx="1164164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 D</a:t>
            </a: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etects the exact shipping label / information region (Info Region) on cropped box surfaces for downstream OCR processing.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0559" y="4441741"/>
            <a:ext cx="12959766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ataset preparation: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rce Selection: Selected box-only images from the dataset; envelope images were excluded as Model 2 focuses exclusively on box labels.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Auto-Cropping: Cropped box regions from raw images using bounding box coordinates to isolate target surfaces.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Class Objective: Fine-tuned to detect a single target class (Info Region).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Partitioning: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3344" y="7242091"/>
            <a:ext cx="448076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Set: 1,050 samples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Set: 44 samples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Testing Set: 44 samples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29" y="1789369"/>
            <a:ext cx="10517962" cy="667986"/>
            <a:chOff x="0" y="0"/>
            <a:chExt cx="1402395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3828" cy="890648"/>
            </a:xfrm>
            <a:custGeom>
              <a:avLst/>
              <a:gdLst/>
              <a:ahLst/>
              <a:cxnLst/>
              <a:rect r="r" b="b" t="t" l="l"/>
              <a:pathLst>
                <a:path h="890648" w="14023828">
                  <a:moveTo>
                    <a:pt x="0" y="123317"/>
                  </a:moveTo>
                  <a:cubicBezTo>
                    <a:pt x="0" y="55245"/>
                    <a:pt x="105975" y="0"/>
                    <a:pt x="236556" y="0"/>
                  </a:cubicBezTo>
                  <a:lnTo>
                    <a:pt x="13787272" y="0"/>
                  </a:lnTo>
                  <a:cubicBezTo>
                    <a:pt x="13917853" y="0"/>
                    <a:pt x="14023828" y="55245"/>
                    <a:pt x="14023828" y="123317"/>
                  </a:cubicBezTo>
                  <a:lnTo>
                    <a:pt x="14023828" y="767331"/>
                  </a:lnTo>
                  <a:cubicBezTo>
                    <a:pt x="14023828" y="835403"/>
                    <a:pt x="13917853" y="890648"/>
                    <a:pt x="13787272" y="890648"/>
                  </a:cubicBezTo>
                  <a:lnTo>
                    <a:pt x="236556" y="890648"/>
                  </a:lnTo>
                  <a:cubicBezTo>
                    <a:pt x="10597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2395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3.3.1 Classification &amp; Information-Region Localization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2178" y="3313415"/>
            <a:ext cx="8866907" cy="4336106"/>
            <a:chOff x="0" y="0"/>
            <a:chExt cx="7954541" cy="38899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54541" cy="3889932"/>
            </a:xfrm>
            <a:custGeom>
              <a:avLst/>
              <a:gdLst/>
              <a:ahLst/>
              <a:cxnLst/>
              <a:rect r="r" b="b" t="t" l="l"/>
              <a:pathLst>
                <a:path h="3889932" w="7954541">
                  <a:moveTo>
                    <a:pt x="0" y="105578"/>
                  </a:moveTo>
                  <a:cubicBezTo>
                    <a:pt x="0" y="47300"/>
                    <a:pt x="47082" y="0"/>
                    <a:pt x="105090" y="0"/>
                  </a:cubicBezTo>
                  <a:lnTo>
                    <a:pt x="7849451" y="0"/>
                  </a:lnTo>
                  <a:cubicBezTo>
                    <a:pt x="7907459" y="0"/>
                    <a:pt x="7954541" y="47300"/>
                    <a:pt x="7954541" y="105578"/>
                  </a:cubicBezTo>
                  <a:lnTo>
                    <a:pt x="7954541" y="3784354"/>
                  </a:lnTo>
                  <a:cubicBezTo>
                    <a:pt x="7954541" y="3842631"/>
                    <a:pt x="7907459" y="3889932"/>
                    <a:pt x="7849451" y="3889932"/>
                  </a:cubicBezTo>
                  <a:lnTo>
                    <a:pt x="105090" y="3889932"/>
                  </a:lnTo>
                  <a:cubicBezTo>
                    <a:pt x="47082" y="3889932"/>
                    <a:pt x="0" y="3842712"/>
                    <a:pt x="0" y="378435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82" r="0" b="-5382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90559" y="2658280"/>
            <a:ext cx="6830568" cy="630936"/>
            <a:chOff x="0" y="0"/>
            <a:chExt cx="9107424" cy="8412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07424" cy="841248"/>
            </a:xfrm>
            <a:custGeom>
              <a:avLst/>
              <a:gdLst/>
              <a:ahLst/>
              <a:cxnLst/>
              <a:rect r="r" b="b" t="t" l="l"/>
              <a:pathLst>
                <a:path h="841248" w="9107424">
                  <a:moveTo>
                    <a:pt x="0" y="0"/>
                  </a:moveTo>
                  <a:lnTo>
                    <a:pt x="9107424" y="0"/>
                  </a:lnTo>
                  <a:lnTo>
                    <a:pt x="910742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946" r="0" b="-1609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107424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&amp; Training Environment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0175887" y="2973748"/>
          <a:ext cx="7083413" cy="6516412"/>
        </p:xfrm>
        <a:graphic>
          <a:graphicData uri="http://schemas.openxmlformats.org/drawingml/2006/table">
            <a:tbl>
              <a:tblPr/>
              <a:tblGrid>
                <a:gridCol w="3541706"/>
                <a:gridCol w="3541706"/>
              </a:tblGrid>
              <a:tr h="108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b="true" sz="2499">
                          <a:solidFill>
                            <a:srgbClr val="1B3A6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Hyperparameter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1B3A6B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108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Architecture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YOLO11n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Pretrained Weights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yolo11n.pt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Epochs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Batch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6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Hardware / Workers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GPU / 4 Workers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1" id="21"/>
          <p:cNvSpPr txBox="true"/>
          <p:nvPr/>
        </p:nvSpPr>
        <p:spPr>
          <a:xfrm rot="0">
            <a:off x="684325" y="3594016"/>
            <a:ext cx="8242613" cy="372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Configuration: This training preset and hyperparameter setup is applied identically to both Model.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Model: YOLO11n (Nano a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rchitecture, optimized for lightweight real-time execution).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trained Weights: Fine-tuned from COCO pretrained weights (yolo11n.pt) for transfer learning.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ardware Setup: GPU with 4 dedicated dataloader workers.</a:t>
            </a:r>
          </a:p>
          <a:p>
            <a:pPr algn="l" marL="539749" indent="-269875" lvl="1">
              <a:lnSpc>
                <a:spcPts val="29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Checkpointing: Best validation performance saved to weights/best.pt.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29" y="1789369"/>
            <a:ext cx="10517962" cy="667986"/>
            <a:chOff x="0" y="0"/>
            <a:chExt cx="1402395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023828" cy="890648"/>
            </a:xfrm>
            <a:custGeom>
              <a:avLst/>
              <a:gdLst/>
              <a:ahLst/>
              <a:cxnLst/>
              <a:rect r="r" b="b" t="t" l="l"/>
              <a:pathLst>
                <a:path h="890648" w="14023828">
                  <a:moveTo>
                    <a:pt x="0" y="123317"/>
                  </a:moveTo>
                  <a:cubicBezTo>
                    <a:pt x="0" y="55245"/>
                    <a:pt x="105975" y="0"/>
                    <a:pt x="236556" y="0"/>
                  </a:cubicBezTo>
                  <a:lnTo>
                    <a:pt x="13787272" y="0"/>
                  </a:lnTo>
                  <a:cubicBezTo>
                    <a:pt x="13917853" y="0"/>
                    <a:pt x="14023828" y="55245"/>
                    <a:pt x="14023828" y="123317"/>
                  </a:cubicBezTo>
                  <a:lnTo>
                    <a:pt x="14023828" y="767331"/>
                  </a:lnTo>
                  <a:cubicBezTo>
                    <a:pt x="14023828" y="835403"/>
                    <a:pt x="13917853" y="890648"/>
                    <a:pt x="13787272" y="890648"/>
                  </a:cubicBezTo>
                  <a:lnTo>
                    <a:pt x="236556" y="890648"/>
                  </a:lnTo>
                  <a:cubicBezTo>
                    <a:pt x="10597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402395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3.3.2  Text Detection, Recognition &amp; Normalization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27975" y="8064574"/>
            <a:ext cx="15670374" cy="1811887"/>
          </a:xfrm>
          <a:custGeom>
            <a:avLst/>
            <a:gdLst/>
            <a:ahLst/>
            <a:cxnLst/>
            <a:rect r="r" b="b" t="t" l="l"/>
            <a:pathLst>
              <a:path h="1811887" w="15670374">
                <a:moveTo>
                  <a:pt x="0" y="0"/>
                </a:moveTo>
                <a:lnTo>
                  <a:pt x="15670374" y="0"/>
                </a:lnTo>
                <a:lnTo>
                  <a:pt x="15670374" y="1811887"/>
                </a:lnTo>
                <a:lnTo>
                  <a:pt x="0" y="18118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16568" y="2571655"/>
            <a:ext cx="10140774" cy="5492919"/>
          </a:xfrm>
          <a:custGeom>
            <a:avLst/>
            <a:gdLst/>
            <a:ahLst/>
            <a:cxnLst/>
            <a:rect r="r" b="b" t="t" l="l"/>
            <a:pathLst>
              <a:path h="5492919" w="10140774">
                <a:moveTo>
                  <a:pt x="0" y="0"/>
                </a:moveTo>
                <a:lnTo>
                  <a:pt x="10140774" y="0"/>
                </a:lnTo>
                <a:lnTo>
                  <a:pt x="10140774" y="5492919"/>
                </a:lnTo>
                <a:lnTo>
                  <a:pt x="0" y="5492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9188" y="1460423"/>
            <a:ext cx="12567975" cy="667986"/>
            <a:chOff x="0" y="0"/>
            <a:chExt cx="16757300" cy="8906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757154" cy="890648"/>
            </a:xfrm>
            <a:custGeom>
              <a:avLst/>
              <a:gdLst/>
              <a:ahLst/>
              <a:cxnLst/>
              <a:rect r="r" b="b" t="t" l="l"/>
              <a:pathLst>
                <a:path h="890648" w="16757154">
                  <a:moveTo>
                    <a:pt x="0" y="123317"/>
                  </a:moveTo>
                  <a:cubicBezTo>
                    <a:pt x="0" y="55245"/>
                    <a:pt x="126631" y="0"/>
                    <a:pt x="282663" y="0"/>
                  </a:cubicBezTo>
                  <a:lnTo>
                    <a:pt x="16474491" y="0"/>
                  </a:lnTo>
                  <a:cubicBezTo>
                    <a:pt x="16630523" y="0"/>
                    <a:pt x="16757154" y="55245"/>
                    <a:pt x="16757154" y="123317"/>
                  </a:cubicBezTo>
                  <a:lnTo>
                    <a:pt x="16757154" y="767331"/>
                  </a:lnTo>
                  <a:cubicBezTo>
                    <a:pt x="16757154" y="835403"/>
                    <a:pt x="16630523" y="890648"/>
                    <a:pt x="16474491" y="890648"/>
                  </a:cubicBezTo>
                  <a:lnTo>
                    <a:pt x="282663" y="890648"/>
                  </a:lnTo>
                  <a:cubicBezTo>
                    <a:pt x="1266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75730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3.4 Parcel Dimension Measurement — Two Candidate Approaches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9610" y="2242709"/>
            <a:ext cx="8180070" cy="7700010"/>
            <a:chOff x="0" y="0"/>
            <a:chExt cx="10906760" cy="10266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06760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1090676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760075" y="0"/>
                  </a:lnTo>
                  <a:cubicBezTo>
                    <a:pt x="10841101" y="0"/>
                    <a:pt x="10906760" y="65659"/>
                    <a:pt x="10906760" y="146685"/>
                  </a:cubicBezTo>
                  <a:lnTo>
                    <a:pt x="10906760" y="10119995"/>
                  </a:lnTo>
                  <a:cubicBezTo>
                    <a:pt x="10906760" y="10201021"/>
                    <a:pt x="10841101" y="10266680"/>
                    <a:pt x="10760075" y="10266680"/>
                  </a:cubicBezTo>
                  <a:lnTo>
                    <a:pt x="146685" y="10266680"/>
                  </a:lnTo>
                  <a:cubicBezTo>
                    <a:pt x="65659" y="10266680"/>
                    <a:pt x="0" y="10201021"/>
                    <a:pt x="0" y="10119995"/>
                  </a:cubicBezTo>
                  <a:close/>
                </a:path>
              </a:pathLst>
            </a:custGeom>
            <a:solidFill>
              <a:srgbClr val="EAF0FB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73455" y="2499122"/>
            <a:ext cx="576072" cy="576072"/>
            <a:chOff x="0" y="0"/>
            <a:chExt cx="768096" cy="7680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1B3A6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96899" y="2622566"/>
            <a:ext cx="329184" cy="329184"/>
            <a:chOff x="0" y="0"/>
            <a:chExt cx="438912" cy="438912"/>
          </a:xfrm>
        </p:grpSpPr>
        <p:sp>
          <p:nvSpPr>
            <p:cNvPr name="Freeform 10" id="10" descr="/home/claude/pptx_work/icons/FaCamera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41551" y="2471690"/>
            <a:ext cx="6830568" cy="630936"/>
            <a:chOff x="0" y="0"/>
            <a:chExt cx="9107424" cy="8412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07424" cy="841248"/>
            </a:xfrm>
            <a:custGeom>
              <a:avLst/>
              <a:gdLst/>
              <a:ahLst/>
              <a:cxnLst/>
              <a:rect r="r" b="b" t="t" l="l"/>
              <a:pathLst>
                <a:path h="841248" w="9107424">
                  <a:moveTo>
                    <a:pt x="0" y="0"/>
                  </a:moveTo>
                  <a:lnTo>
                    <a:pt x="9107424" y="0"/>
                  </a:lnTo>
                  <a:lnTo>
                    <a:pt x="910742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946" r="0" b="-1609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107424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1B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Option 1 — Webcam + Computer Vision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00887" y="3192161"/>
            <a:ext cx="7557516" cy="532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Camera captures a frame; YOLO26n removes person regions and YOLO Hand Keypoints removes hand regions to prevent noise from interfering with edge detection.</a:t>
            </a:r>
          </a:p>
          <a:p>
            <a:pPr algn="l">
              <a:lnSpc>
                <a:spcPts val="3225"/>
              </a:lnSpc>
            </a:pPr>
          </a:p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YOLO Package Detection localizes the parcel as the ROI.</a:t>
            </a:r>
          </a:p>
          <a:p>
            <a:pPr algn="l">
              <a:lnSpc>
                <a:spcPts val="3225"/>
              </a:lnSpc>
            </a:pPr>
          </a:p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Canny edge detection scans a horizontal line at y = 0.57×h within the ROI to find left/right boundaries.</a:t>
            </a:r>
          </a:p>
          <a:p>
            <a:pPr algn="l">
              <a:lnSpc>
                <a:spcPts val="3225"/>
              </a:lnSpc>
            </a:pPr>
          </a:p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D_cm = D_pixel × cm_per_pixel ; repeated 3× for L, W, H → V = L × W × H.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2110" y="2242709"/>
            <a:ext cx="8317230" cy="7700010"/>
            <a:chOff x="0" y="0"/>
            <a:chExt cx="11089640" cy="10266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89639" cy="10266680"/>
            </a:xfrm>
            <a:custGeom>
              <a:avLst/>
              <a:gdLst/>
              <a:ahLst/>
              <a:cxnLst/>
              <a:rect r="r" b="b" t="t" l="l"/>
              <a:pathLst>
                <a:path h="10266680" w="1108963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942955" y="0"/>
                  </a:lnTo>
                  <a:cubicBezTo>
                    <a:pt x="11023981" y="0"/>
                    <a:pt x="11089639" y="65659"/>
                    <a:pt x="11089639" y="146685"/>
                  </a:cubicBezTo>
                  <a:lnTo>
                    <a:pt x="11089639" y="10119995"/>
                  </a:lnTo>
                  <a:cubicBezTo>
                    <a:pt x="11089639" y="10201021"/>
                    <a:pt x="11023981" y="10266680"/>
                    <a:pt x="10942955" y="10266680"/>
                  </a:cubicBezTo>
                  <a:lnTo>
                    <a:pt x="146685" y="10266680"/>
                  </a:lnTo>
                  <a:cubicBezTo>
                    <a:pt x="65659" y="10266680"/>
                    <a:pt x="0" y="10201021"/>
                    <a:pt x="0" y="10119995"/>
                  </a:cubicBezTo>
                  <a:close/>
                </a:path>
              </a:pathLst>
            </a:custGeom>
            <a:solidFill>
              <a:srgbClr val="FDEEE2"/>
            </a:solidFill>
            <a:ln w="19050" cap="sq">
              <a:solidFill>
                <a:srgbClr val="F6CDB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545955" y="2499122"/>
            <a:ext cx="576072" cy="576072"/>
            <a:chOff x="0" y="0"/>
            <a:chExt cx="768096" cy="7680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E8622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69399" y="2622566"/>
            <a:ext cx="329184" cy="329184"/>
            <a:chOff x="0" y="0"/>
            <a:chExt cx="438912" cy="438912"/>
          </a:xfrm>
        </p:grpSpPr>
        <p:sp>
          <p:nvSpPr>
            <p:cNvPr name="Freeform 20" id="20" descr="/home/claude/pptx_work/icons/FaWaveSquare_white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314051" y="2471690"/>
            <a:ext cx="6967728" cy="630936"/>
            <a:chOff x="0" y="0"/>
            <a:chExt cx="9290304" cy="841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90304" cy="841248"/>
            </a:xfrm>
            <a:custGeom>
              <a:avLst/>
              <a:gdLst/>
              <a:ahLst/>
              <a:cxnLst/>
              <a:rect r="r" b="b" t="t" l="l"/>
              <a:pathLst>
                <a:path h="841248" w="9290304">
                  <a:moveTo>
                    <a:pt x="0" y="0"/>
                  </a:moveTo>
                  <a:lnTo>
                    <a:pt x="9290304" y="0"/>
                  </a:lnTo>
                  <a:lnTo>
                    <a:pt x="929030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182" r="0" b="-16518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9290304" cy="898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E862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Option 2 — Ultrasonic Sensor Array + ESP32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573387" y="3192161"/>
            <a:ext cx="7694676" cy="491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3× HC-SR04 ultrasonic sensors + 1× GY-SHT30-D temperature sensor, controlled by an ESP32 microcontroller.</a:t>
            </a:r>
          </a:p>
          <a:p>
            <a:pPr algn="l">
              <a:lnSpc>
                <a:spcPts val="3225"/>
              </a:lnSpc>
            </a:pPr>
          </a:p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Two sensors measure horizontally, one vertically (top-down), covering length, width, and height.</a:t>
            </a:r>
          </a:p>
          <a:p>
            <a:pPr algn="l">
              <a:lnSpc>
                <a:spcPts val="3225"/>
              </a:lnSpc>
            </a:pPr>
          </a:p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Time-of-Flight principle: d_raw = v(T) × t / 2, with v(T) = 331.3 + 0.606×T.</a:t>
            </a:r>
          </a:p>
          <a:p>
            <a:pPr algn="l">
              <a:lnSpc>
                <a:spcPts val="3225"/>
              </a:lnSpc>
            </a:pPr>
          </a:p>
          <a:p>
            <a:pPr algn="l" marL="434340" indent="-217170" lvl="1">
              <a:lnSpc>
                <a:spcPts val="3225"/>
              </a:lnSpc>
              <a:buFont typeface="Arial"/>
              <a:buChar char="•"/>
            </a:pPr>
            <a:r>
              <a:rPr lang="en-US" sz="240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Each sensor is individually calibrated using linear regression to correct systematic error.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-9530" y="1338735"/>
            <a:ext cx="18297530" cy="9587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348322"/>
            <a:ext cx="1828800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589703"/>
            <a:ext cx="12567975" cy="667986"/>
            <a:chOff x="0" y="0"/>
            <a:chExt cx="16757300" cy="8906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757154" cy="890648"/>
            </a:xfrm>
            <a:custGeom>
              <a:avLst/>
              <a:gdLst/>
              <a:ahLst/>
              <a:cxnLst/>
              <a:rect r="r" b="b" t="t" l="l"/>
              <a:pathLst>
                <a:path h="890648" w="16757154">
                  <a:moveTo>
                    <a:pt x="0" y="123317"/>
                  </a:moveTo>
                  <a:cubicBezTo>
                    <a:pt x="0" y="55245"/>
                    <a:pt x="126631" y="0"/>
                    <a:pt x="282663" y="0"/>
                  </a:cubicBezTo>
                  <a:lnTo>
                    <a:pt x="16474491" y="0"/>
                  </a:lnTo>
                  <a:cubicBezTo>
                    <a:pt x="16630523" y="0"/>
                    <a:pt x="16757154" y="55245"/>
                    <a:pt x="16757154" y="123317"/>
                  </a:cubicBezTo>
                  <a:lnTo>
                    <a:pt x="16757154" y="767331"/>
                  </a:lnTo>
                  <a:cubicBezTo>
                    <a:pt x="16757154" y="835403"/>
                    <a:pt x="16630523" y="890648"/>
                    <a:pt x="16474491" y="890648"/>
                  </a:cubicBezTo>
                  <a:lnTo>
                    <a:pt x="282663" y="890648"/>
                  </a:lnTo>
                  <a:cubicBezTo>
                    <a:pt x="1266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675730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3.4.1 Webcam-Based Dimension-Measurement Pipeline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17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280065" y="2486289"/>
            <a:ext cx="8979235" cy="7800711"/>
          </a:xfrm>
          <a:custGeom>
            <a:avLst/>
            <a:gdLst/>
            <a:ahLst/>
            <a:cxnLst/>
            <a:rect r="r" b="b" t="t" l="l"/>
            <a:pathLst>
              <a:path h="7800711" w="8979235">
                <a:moveTo>
                  <a:pt x="0" y="0"/>
                </a:moveTo>
                <a:lnTo>
                  <a:pt x="8979235" y="0"/>
                </a:lnTo>
                <a:lnTo>
                  <a:pt x="8979235" y="7800711"/>
                </a:lnTo>
                <a:lnTo>
                  <a:pt x="0" y="780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64587" y="2656388"/>
            <a:ext cx="7785792" cy="3126751"/>
            <a:chOff x="0" y="0"/>
            <a:chExt cx="12696886" cy="5099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96886" cy="5099021"/>
            </a:xfrm>
            <a:custGeom>
              <a:avLst/>
              <a:gdLst/>
              <a:ahLst/>
              <a:cxnLst/>
              <a:rect r="r" b="b" t="t" l="l"/>
              <a:pathLst>
                <a:path h="5099021" w="12696886">
                  <a:moveTo>
                    <a:pt x="0" y="138395"/>
                  </a:moveTo>
                  <a:cubicBezTo>
                    <a:pt x="0" y="62003"/>
                    <a:pt x="75151" y="0"/>
                    <a:pt x="167743" y="0"/>
                  </a:cubicBezTo>
                  <a:lnTo>
                    <a:pt x="12529144" y="0"/>
                  </a:lnTo>
                  <a:cubicBezTo>
                    <a:pt x="12621735" y="0"/>
                    <a:pt x="12696886" y="62003"/>
                    <a:pt x="12696886" y="138395"/>
                  </a:cubicBezTo>
                  <a:lnTo>
                    <a:pt x="12696886" y="4960626"/>
                  </a:lnTo>
                  <a:cubicBezTo>
                    <a:pt x="12696886" y="5037019"/>
                    <a:pt x="12621735" y="5099021"/>
                    <a:pt x="12529144" y="5099021"/>
                  </a:cubicBezTo>
                  <a:lnTo>
                    <a:pt x="167743" y="5099021"/>
                  </a:lnTo>
                  <a:cubicBezTo>
                    <a:pt x="75151" y="5099021"/>
                    <a:pt x="0" y="5037125"/>
                    <a:pt x="0" y="496062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32" t="0" r="-11362" b="-20030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517120" y="2959923"/>
            <a:ext cx="7280725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Two cameras are use</a:t>
            </a: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to measure the volume of a package.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first camera captures the front of the package. The second camera captures the top of the package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589703"/>
            <a:ext cx="12567975" cy="667986"/>
            <a:chOff x="0" y="0"/>
            <a:chExt cx="1675730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57154" cy="890648"/>
            </a:xfrm>
            <a:custGeom>
              <a:avLst/>
              <a:gdLst/>
              <a:ahLst/>
              <a:cxnLst/>
              <a:rect r="r" b="b" t="t" l="l"/>
              <a:pathLst>
                <a:path h="890648" w="16757154">
                  <a:moveTo>
                    <a:pt x="0" y="123317"/>
                  </a:moveTo>
                  <a:cubicBezTo>
                    <a:pt x="0" y="55245"/>
                    <a:pt x="126631" y="0"/>
                    <a:pt x="282663" y="0"/>
                  </a:cubicBezTo>
                  <a:lnTo>
                    <a:pt x="16474491" y="0"/>
                  </a:lnTo>
                  <a:cubicBezTo>
                    <a:pt x="16630523" y="0"/>
                    <a:pt x="16757154" y="55245"/>
                    <a:pt x="16757154" y="123317"/>
                  </a:cubicBezTo>
                  <a:lnTo>
                    <a:pt x="16757154" y="767331"/>
                  </a:lnTo>
                  <a:cubicBezTo>
                    <a:pt x="16757154" y="835403"/>
                    <a:pt x="16630523" y="890648"/>
                    <a:pt x="16474491" y="890648"/>
                  </a:cubicBezTo>
                  <a:lnTo>
                    <a:pt x="282663" y="890648"/>
                  </a:lnTo>
                  <a:cubicBezTo>
                    <a:pt x="1266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675730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3.4.1 Webcam-Based Dimension-Measurement Pipeline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18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0" y="2495814"/>
            <a:ext cx="18060209" cy="7122495"/>
          </a:xfrm>
          <a:custGeom>
            <a:avLst/>
            <a:gdLst/>
            <a:ahLst/>
            <a:cxnLst/>
            <a:rect r="r" b="b" t="t" l="l"/>
            <a:pathLst>
              <a:path h="7122495" w="18060209">
                <a:moveTo>
                  <a:pt x="0" y="0"/>
                </a:moveTo>
                <a:lnTo>
                  <a:pt x="18060209" y="0"/>
                </a:lnTo>
                <a:lnTo>
                  <a:pt x="18060209" y="7122495"/>
                </a:lnTo>
                <a:lnTo>
                  <a:pt x="0" y="7122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589703"/>
            <a:ext cx="12567975" cy="667986"/>
            <a:chOff x="0" y="0"/>
            <a:chExt cx="1675730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57154" cy="890648"/>
            </a:xfrm>
            <a:custGeom>
              <a:avLst/>
              <a:gdLst/>
              <a:ahLst/>
              <a:cxnLst/>
              <a:rect r="r" b="b" t="t" l="l"/>
              <a:pathLst>
                <a:path h="890648" w="16757154">
                  <a:moveTo>
                    <a:pt x="0" y="123317"/>
                  </a:moveTo>
                  <a:cubicBezTo>
                    <a:pt x="0" y="55245"/>
                    <a:pt x="126631" y="0"/>
                    <a:pt x="282663" y="0"/>
                  </a:cubicBezTo>
                  <a:lnTo>
                    <a:pt x="16474491" y="0"/>
                  </a:lnTo>
                  <a:cubicBezTo>
                    <a:pt x="16630523" y="0"/>
                    <a:pt x="16757154" y="55245"/>
                    <a:pt x="16757154" y="123317"/>
                  </a:cubicBezTo>
                  <a:lnTo>
                    <a:pt x="16757154" y="767331"/>
                  </a:lnTo>
                  <a:cubicBezTo>
                    <a:pt x="16757154" y="835403"/>
                    <a:pt x="16630523" y="890648"/>
                    <a:pt x="16474491" y="890648"/>
                  </a:cubicBezTo>
                  <a:lnTo>
                    <a:pt x="282663" y="890648"/>
                  </a:lnTo>
                  <a:cubicBezTo>
                    <a:pt x="1266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675730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3.4.2 Ultrasonic Measurement System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19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56667" y="2626420"/>
            <a:ext cx="12330021" cy="7451957"/>
          </a:xfrm>
          <a:custGeom>
            <a:avLst/>
            <a:gdLst/>
            <a:ahLst/>
            <a:cxnLst/>
            <a:rect r="r" b="b" t="t" l="l"/>
            <a:pathLst>
              <a:path h="7451957" w="12330021">
                <a:moveTo>
                  <a:pt x="0" y="0"/>
                </a:moveTo>
                <a:lnTo>
                  <a:pt x="12330021" y="0"/>
                </a:lnTo>
                <a:lnTo>
                  <a:pt x="12330021" y="7451956"/>
                </a:lnTo>
                <a:lnTo>
                  <a:pt x="0" y="74519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960256" y="3151992"/>
            <a:ext cx="4648947" cy="2105808"/>
            <a:chOff x="0" y="0"/>
            <a:chExt cx="7208167" cy="32650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08167" cy="3265037"/>
            </a:xfrm>
            <a:custGeom>
              <a:avLst/>
              <a:gdLst/>
              <a:ahLst/>
              <a:cxnLst/>
              <a:rect r="r" b="b" t="t" l="l"/>
              <a:pathLst>
                <a:path h="3265037" w="7208167">
                  <a:moveTo>
                    <a:pt x="0" y="88618"/>
                  </a:moveTo>
                  <a:cubicBezTo>
                    <a:pt x="0" y="39702"/>
                    <a:pt x="42664" y="0"/>
                    <a:pt x="95229" y="0"/>
                  </a:cubicBezTo>
                  <a:lnTo>
                    <a:pt x="7112938" y="0"/>
                  </a:lnTo>
                  <a:cubicBezTo>
                    <a:pt x="7165504" y="0"/>
                    <a:pt x="7208167" y="39702"/>
                    <a:pt x="7208167" y="88618"/>
                  </a:cubicBezTo>
                  <a:lnTo>
                    <a:pt x="7208167" y="3176419"/>
                  </a:lnTo>
                  <a:cubicBezTo>
                    <a:pt x="7208167" y="3225335"/>
                    <a:pt x="7165504" y="3265037"/>
                    <a:pt x="7112938" y="3265037"/>
                  </a:cubicBezTo>
                  <a:lnTo>
                    <a:pt x="95229" y="3265037"/>
                  </a:lnTo>
                  <a:cubicBezTo>
                    <a:pt x="42664" y="3265037"/>
                    <a:pt x="0" y="3225403"/>
                    <a:pt x="0" y="317641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722" t="0" r="-96160" b="-87452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0305" y="3124200"/>
            <a:ext cx="4186440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system integrates distance and temperature measurements to calculate parcel dimensions and volume in real time.</a:t>
            </a:r>
          </a:p>
          <a:p>
            <a:pPr algn="l">
              <a:lnSpc>
                <a:spcPts val="2639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589703"/>
            <a:ext cx="12567975" cy="667986"/>
            <a:chOff x="0" y="0"/>
            <a:chExt cx="16757300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57154" cy="890648"/>
            </a:xfrm>
            <a:custGeom>
              <a:avLst/>
              <a:gdLst/>
              <a:ahLst/>
              <a:cxnLst/>
              <a:rect r="r" b="b" t="t" l="l"/>
              <a:pathLst>
                <a:path h="890648" w="16757154">
                  <a:moveTo>
                    <a:pt x="0" y="123317"/>
                  </a:moveTo>
                  <a:cubicBezTo>
                    <a:pt x="0" y="55245"/>
                    <a:pt x="126631" y="0"/>
                    <a:pt x="282663" y="0"/>
                  </a:cubicBezTo>
                  <a:lnTo>
                    <a:pt x="16474491" y="0"/>
                  </a:lnTo>
                  <a:cubicBezTo>
                    <a:pt x="16630523" y="0"/>
                    <a:pt x="16757154" y="55245"/>
                    <a:pt x="16757154" y="123317"/>
                  </a:cubicBezTo>
                  <a:lnTo>
                    <a:pt x="16757154" y="767331"/>
                  </a:lnTo>
                  <a:cubicBezTo>
                    <a:pt x="16757154" y="835403"/>
                    <a:pt x="16630523" y="890648"/>
                    <a:pt x="16474491" y="890648"/>
                  </a:cubicBezTo>
                  <a:lnTo>
                    <a:pt x="282663" y="890648"/>
                  </a:lnTo>
                  <a:cubicBezTo>
                    <a:pt x="1266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6757300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3.4.2 Ultrasonic Measurement System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49314" y="2449347"/>
            <a:ext cx="5286354" cy="7048472"/>
          </a:xfrm>
          <a:custGeom>
            <a:avLst/>
            <a:gdLst/>
            <a:ahLst/>
            <a:cxnLst/>
            <a:rect r="r" b="b" t="t" l="l"/>
            <a:pathLst>
              <a:path h="7048472" w="5286354">
                <a:moveTo>
                  <a:pt x="0" y="0"/>
                </a:moveTo>
                <a:lnTo>
                  <a:pt x="5286354" y="0"/>
                </a:lnTo>
                <a:lnTo>
                  <a:pt x="5286354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35668" y="2449347"/>
            <a:ext cx="12661852" cy="7048472"/>
          </a:xfrm>
          <a:custGeom>
            <a:avLst/>
            <a:gdLst/>
            <a:ahLst/>
            <a:cxnLst/>
            <a:rect r="r" b="b" t="t" l="l"/>
            <a:pathLst>
              <a:path h="7048472" w="12661852">
                <a:moveTo>
                  <a:pt x="0" y="0"/>
                </a:moveTo>
                <a:lnTo>
                  <a:pt x="12661852" y="0"/>
                </a:lnTo>
                <a:lnTo>
                  <a:pt x="12661852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7" t="-790" r="0" b="-79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9165469" cy="1390421"/>
            <a:chOff x="0" y="0"/>
            <a:chExt cx="1222062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220629" cy="1853899"/>
            </a:xfrm>
            <a:custGeom>
              <a:avLst/>
              <a:gdLst/>
              <a:ahLst/>
              <a:cxnLst/>
              <a:rect r="r" b="b" t="t" l="l"/>
              <a:pathLst>
                <a:path h="1853899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42" r="0" b="-784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52400"/>
              <a:ext cx="12220626" cy="17014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80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589703"/>
            <a:ext cx="8190921" cy="667986"/>
            <a:chOff x="0" y="0"/>
            <a:chExt cx="10921228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21133" cy="890648"/>
            </a:xfrm>
            <a:custGeom>
              <a:avLst/>
              <a:gdLst/>
              <a:ahLst/>
              <a:cxnLst/>
              <a:rect r="r" b="b" t="t" l="l"/>
              <a:pathLst>
                <a:path h="890648" w="10921133">
                  <a:moveTo>
                    <a:pt x="0" y="123317"/>
                  </a:moveTo>
                  <a:cubicBezTo>
                    <a:pt x="0" y="55245"/>
                    <a:pt x="82529" y="0"/>
                    <a:pt x="184220" y="0"/>
                  </a:cubicBezTo>
                  <a:lnTo>
                    <a:pt x="10736914" y="0"/>
                  </a:lnTo>
                  <a:cubicBezTo>
                    <a:pt x="10838604" y="0"/>
                    <a:pt x="10921133" y="55245"/>
                    <a:pt x="10921133" y="123317"/>
                  </a:cubicBezTo>
                  <a:lnTo>
                    <a:pt x="10921133" y="767331"/>
                  </a:lnTo>
                  <a:cubicBezTo>
                    <a:pt x="10921133" y="835403"/>
                    <a:pt x="10838604" y="890648"/>
                    <a:pt x="10736914" y="890648"/>
                  </a:cubicBezTo>
                  <a:lnTo>
                    <a:pt x="184220" y="890648"/>
                  </a:lnTo>
                  <a:cubicBezTo>
                    <a:pt x="82529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21228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3.4.2 Ultrasonic Measurement System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9156" y="5733787"/>
            <a:ext cx="17234646" cy="4263721"/>
            <a:chOff x="0" y="0"/>
            <a:chExt cx="38358988" cy="94897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358989" cy="9489704"/>
            </a:xfrm>
            <a:custGeom>
              <a:avLst/>
              <a:gdLst/>
              <a:ahLst/>
              <a:cxnLst/>
              <a:rect r="r" b="b" t="t" l="l"/>
              <a:pathLst>
                <a:path h="9489704" w="38358989">
                  <a:moveTo>
                    <a:pt x="0" y="257564"/>
                  </a:moveTo>
                  <a:cubicBezTo>
                    <a:pt x="0" y="115392"/>
                    <a:pt x="227040" y="0"/>
                    <a:pt x="506773" y="0"/>
                  </a:cubicBezTo>
                  <a:lnTo>
                    <a:pt x="37852217" y="0"/>
                  </a:lnTo>
                  <a:cubicBezTo>
                    <a:pt x="38131948" y="0"/>
                    <a:pt x="38358989" y="115392"/>
                    <a:pt x="38358989" y="257564"/>
                  </a:cubicBezTo>
                  <a:lnTo>
                    <a:pt x="38358989" y="9232140"/>
                  </a:lnTo>
                  <a:cubicBezTo>
                    <a:pt x="38358989" y="9374312"/>
                    <a:pt x="38131948" y="9489704"/>
                    <a:pt x="37852217" y="9489704"/>
                  </a:cubicBezTo>
                  <a:lnTo>
                    <a:pt x="506773" y="9489704"/>
                  </a:lnTo>
                  <a:cubicBezTo>
                    <a:pt x="227040" y="9489704"/>
                    <a:pt x="0" y="9374509"/>
                    <a:pt x="0" y="923214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81" t="0" r="63138" b="35504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135455" y="2371989"/>
            <a:ext cx="13084230" cy="3810782"/>
          </a:xfrm>
          <a:custGeom>
            <a:avLst/>
            <a:gdLst/>
            <a:ahLst/>
            <a:cxnLst/>
            <a:rect r="r" b="b" t="t" l="l"/>
            <a:pathLst>
              <a:path h="3810782" w="13084230">
                <a:moveTo>
                  <a:pt x="0" y="0"/>
                </a:moveTo>
                <a:lnTo>
                  <a:pt x="13084230" y="0"/>
                </a:lnTo>
                <a:lnTo>
                  <a:pt x="13084230" y="3810782"/>
                </a:lnTo>
                <a:lnTo>
                  <a:pt x="0" y="3810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5747" y="5854143"/>
            <a:ext cx="16568877" cy="401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ESP32 reads the ambient temperature from the SHT30-D sensor and calculates the corresponding speed of sound with formula: v(T) = 331.3 + 0.606×T.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2: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ESP32 triggers the three ultrasonic sensors sequentially to reduce crosstalk. Each sensor emits a 40 kHz ultrasonic wave, while the ESP32 measures the Echo pulse width and calculates the corresponding distance.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3: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three measured distances are subtracted from the fixed reference distances to determine the parcel dimensions: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= 105 − d₁ W = 105 − d₂ H = 105 − d₃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parcel volume is calculated and the results are sent to the system in JSON format via Wi-Fi:</a:t>
            </a: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 = L × W × H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18713" y="1739417"/>
            <a:ext cx="10074567" cy="667986"/>
            <a:chOff x="0" y="0"/>
            <a:chExt cx="13432757" cy="8906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32729" cy="890648"/>
            </a:xfrm>
            <a:custGeom>
              <a:avLst/>
              <a:gdLst/>
              <a:ahLst/>
              <a:cxnLst/>
              <a:rect r="r" b="b" t="t" l="l"/>
              <a:pathLst>
                <a:path h="890648" w="13432729">
                  <a:moveTo>
                    <a:pt x="0" y="123317"/>
                  </a:moveTo>
                  <a:cubicBezTo>
                    <a:pt x="0" y="55245"/>
                    <a:pt x="122507" y="0"/>
                    <a:pt x="273459" y="0"/>
                  </a:cubicBezTo>
                  <a:lnTo>
                    <a:pt x="13159270" y="0"/>
                  </a:lnTo>
                  <a:cubicBezTo>
                    <a:pt x="13310222" y="0"/>
                    <a:pt x="13432729" y="55245"/>
                    <a:pt x="13432729" y="123317"/>
                  </a:cubicBezTo>
                  <a:lnTo>
                    <a:pt x="13432729" y="767331"/>
                  </a:lnTo>
                  <a:cubicBezTo>
                    <a:pt x="13432729" y="835403"/>
                    <a:pt x="13310222" y="890648"/>
                    <a:pt x="13159270" y="890648"/>
                  </a:cubicBezTo>
                  <a:lnTo>
                    <a:pt x="273459" y="890648"/>
                  </a:lnTo>
                  <a:cubicBezTo>
                    <a:pt x="122507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3432757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4.1 Summary of</a:t>
              </a:r>
              <a:r>
                <a:rPr lang="en-US" sz="27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Quantitative Results — All Models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22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95325" y="2788403"/>
          <a:ext cx="16897350" cy="6123389"/>
        </p:xfrm>
        <a:graphic>
          <a:graphicData uri="http://schemas.openxmlformats.org/drawingml/2006/table">
            <a:tbl>
              <a:tblPr/>
              <a:tblGrid>
                <a:gridCol w="6164221"/>
                <a:gridCol w="5755166"/>
                <a:gridCol w="4977963"/>
              </a:tblGrid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Key Metrics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Envelope/parcel classification (YOLOv11n)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Precision / Recall / mAP50 / mAP50-95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0.9965 / 0.9972 / 0.9950 / 0.9666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Information-region localization (YOLOv11n)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Precision / Recall / mAP50 / mAP50-95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0.9715 / 0.9524 / 0.9790 / 0.8955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Handwriting recognition (fine-tuned TrOCR)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CER / WER (test set)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5.39% / 14.99%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Person detection (YOLO26n, pre-trained)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mAP50-95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40.9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Hand detection (YOLO26n-hand, fine-tuned)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mAP50 / mAP50-95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99.5 / 89.8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477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Parcel detection — ROI (YOLO, fine-tuned)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mAP@50 / Precision / 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29"/>
                        </a:lnSpc>
                        <a:defRPr/>
                      </a:pPr>
                      <a:r>
                        <a:rPr lang="en-US" sz="1774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94.8% / 95.3% / 90.2%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Experiments and Results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Experiments and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610668"/>
            <a:ext cx="4584402" cy="667986"/>
            <a:chOff x="0" y="0"/>
            <a:chExt cx="6112535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12510" cy="890648"/>
            </a:xfrm>
            <a:custGeom>
              <a:avLst/>
              <a:gdLst/>
              <a:ahLst/>
              <a:cxnLst/>
              <a:rect r="r" b="b" t="t" l="l"/>
              <a:pathLst>
                <a:path h="890648" w="6112510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5989193" y="0"/>
                  </a:lnTo>
                  <a:cubicBezTo>
                    <a:pt x="6057265" y="0"/>
                    <a:pt x="6112510" y="55245"/>
                    <a:pt x="6112510" y="123317"/>
                  </a:cubicBezTo>
                  <a:lnTo>
                    <a:pt x="6112510" y="767331"/>
                  </a:lnTo>
                  <a:cubicBezTo>
                    <a:pt x="6112510" y="835403"/>
                    <a:pt x="6057265" y="890648"/>
                    <a:pt x="5989193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6112535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.2 Datasets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23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361950" y="2619375"/>
          <a:ext cx="16897350" cy="5932899"/>
        </p:xfrm>
        <a:graphic>
          <a:graphicData uri="http://schemas.openxmlformats.org/drawingml/2006/table">
            <a:tbl>
              <a:tblPr/>
              <a:tblGrid>
                <a:gridCol w="6164221"/>
                <a:gridCol w="5755166"/>
                <a:gridCol w="4977963"/>
              </a:tblGrid>
              <a:tr h="987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 information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987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Envelope/parcel classification (YOLOv11n)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1,137 samples (1,049 train, 44 val, 44 test)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Self-collected | Roboflow augmentation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Information-region localization (YOLOv11n)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1,137 samples (1,049 train, 44 val, 44 test)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Self-collected | Roboflow augmentation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7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Handwriting recognition (fine-tuned TrOCR)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Train: 59,247 samples / Test: 1,000 samples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Hugging Face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21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Hand detection (YOLO26n-hand, fine-tuned)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26.768 images (18.776 train/ 3.996 validation/ 3.996 test)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Ultralytics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219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Parcel detection — ROI (YOLO, fine-tuned)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9.216 images (7.373 train/ 922 validation/ 921 test)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RoboFlow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Experiments and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477332"/>
            <a:ext cx="7687123" cy="667986"/>
            <a:chOff x="0" y="0"/>
            <a:chExt cx="10249498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9455" cy="890648"/>
            </a:xfrm>
            <a:custGeom>
              <a:avLst/>
              <a:gdLst/>
              <a:ahLst/>
              <a:cxnLst/>
              <a:rect r="r" b="b" t="t" l="l"/>
              <a:pathLst>
                <a:path h="890648" w="10249455">
                  <a:moveTo>
                    <a:pt x="0" y="123317"/>
                  </a:moveTo>
                  <a:cubicBezTo>
                    <a:pt x="0" y="55245"/>
                    <a:pt x="92635" y="0"/>
                    <a:pt x="206778" y="0"/>
                  </a:cubicBezTo>
                  <a:lnTo>
                    <a:pt x="10042677" y="0"/>
                  </a:lnTo>
                  <a:cubicBezTo>
                    <a:pt x="10156820" y="0"/>
                    <a:pt x="10249455" y="55245"/>
                    <a:pt x="10249455" y="123317"/>
                  </a:cubicBezTo>
                  <a:lnTo>
                    <a:pt x="10249455" y="767331"/>
                  </a:lnTo>
                  <a:cubicBezTo>
                    <a:pt x="10249455" y="835403"/>
                    <a:pt x="10156820" y="890648"/>
                    <a:pt x="10042677" y="890648"/>
                  </a:cubicBezTo>
                  <a:lnTo>
                    <a:pt x="206778" y="890648"/>
                  </a:lnTo>
                  <a:cubicBezTo>
                    <a:pt x="9263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249498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.3 Envelope/Parcel Classification Results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2048" y="2435881"/>
            <a:ext cx="3996690" cy="1596390"/>
            <a:chOff x="0" y="0"/>
            <a:chExt cx="5328920" cy="2128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289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3289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180838" y="0"/>
                  </a:lnTo>
                  <a:cubicBezTo>
                    <a:pt x="5262626" y="0"/>
                    <a:pt x="5328920" y="66294"/>
                    <a:pt x="5328920" y="148082"/>
                  </a:cubicBezTo>
                  <a:lnTo>
                    <a:pt x="5328920" y="1980438"/>
                  </a:lnTo>
                  <a:cubicBezTo>
                    <a:pt x="5328920" y="2062226"/>
                    <a:pt x="5262626" y="2128520"/>
                    <a:pt x="51808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41573" y="2582566"/>
            <a:ext cx="3977640" cy="2859305"/>
            <a:chOff x="0" y="0"/>
            <a:chExt cx="5303520" cy="38124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03520" cy="3812405"/>
            </a:xfrm>
            <a:custGeom>
              <a:avLst/>
              <a:gdLst/>
              <a:ahLst/>
              <a:cxnLst/>
              <a:rect r="r" b="b" t="t" l="l"/>
              <a:pathLst>
                <a:path h="3812405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3812405"/>
                  </a:lnTo>
                  <a:lnTo>
                    <a:pt x="0" y="38124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63" r="0" b="585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303520" cy="3812406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46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415428" y="2435881"/>
            <a:ext cx="3996690" cy="1596390"/>
            <a:chOff x="0" y="0"/>
            <a:chExt cx="5328920" cy="2128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289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3289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180838" y="0"/>
                  </a:lnTo>
                  <a:cubicBezTo>
                    <a:pt x="5262626" y="0"/>
                    <a:pt x="5328920" y="66294"/>
                    <a:pt x="5328920" y="148082"/>
                  </a:cubicBezTo>
                  <a:lnTo>
                    <a:pt x="5328920" y="1980438"/>
                  </a:lnTo>
                  <a:cubicBezTo>
                    <a:pt x="5328920" y="2062226"/>
                    <a:pt x="5262626" y="2128520"/>
                    <a:pt x="51808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598808" y="2435881"/>
            <a:ext cx="3996690" cy="1596390"/>
            <a:chOff x="0" y="0"/>
            <a:chExt cx="5328920" cy="2128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289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3289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180838" y="0"/>
                  </a:lnTo>
                  <a:cubicBezTo>
                    <a:pt x="5262626" y="0"/>
                    <a:pt x="5328920" y="66294"/>
                    <a:pt x="5328920" y="148082"/>
                  </a:cubicBezTo>
                  <a:lnTo>
                    <a:pt x="5328920" y="1980438"/>
                  </a:lnTo>
                  <a:cubicBezTo>
                    <a:pt x="5328920" y="2062226"/>
                    <a:pt x="5262626" y="2128520"/>
                    <a:pt x="51808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782188" y="2435881"/>
            <a:ext cx="4380738" cy="1596390"/>
            <a:chOff x="0" y="0"/>
            <a:chExt cx="5840984" cy="2128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40984" cy="2128520"/>
            </a:xfrm>
            <a:custGeom>
              <a:avLst/>
              <a:gdLst/>
              <a:ahLst/>
              <a:cxnLst/>
              <a:rect r="r" b="b" t="t" l="l"/>
              <a:pathLst>
                <a:path h="2128520" w="584098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692902" y="0"/>
                  </a:lnTo>
                  <a:cubicBezTo>
                    <a:pt x="5774690" y="0"/>
                    <a:pt x="5840984" y="66294"/>
                    <a:pt x="5840984" y="148082"/>
                  </a:cubicBezTo>
                  <a:lnTo>
                    <a:pt x="5840984" y="1980438"/>
                  </a:lnTo>
                  <a:cubicBezTo>
                    <a:pt x="5840984" y="2062226"/>
                    <a:pt x="5774690" y="2128520"/>
                    <a:pt x="5692902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41573" y="4289446"/>
            <a:ext cx="5568042" cy="5568042"/>
          </a:xfrm>
          <a:custGeom>
            <a:avLst/>
            <a:gdLst/>
            <a:ahLst/>
            <a:cxnLst/>
            <a:rect r="r" b="b" t="t" l="l"/>
            <a:pathLst>
              <a:path h="5568042" w="5568042">
                <a:moveTo>
                  <a:pt x="0" y="0"/>
                </a:moveTo>
                <a:lnTo>
                  <a:pt x="5568043" y="0"/>
                </a:lnTo>
                <a:lnTo>
                  <a:pt x="5568043" y="5568043"/>
                </a:lnTo>
                <a:lnTo>
                  <a:pt x="0" y="5568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098452" y="4289446"/>
            <a:ext cx="6683736" cy="4457217"/>
          </a:xfrm>
          <a:custGeom>
            <a:avLst/>
            <a:gdLst/>
            <a:ahLst/>
            <a:cxnLst/>
            <a:rect r="r" b="b" t="t" l="l"/>
            <a:pathLst>
              <a:path h="4457217" w="6683736">
                <a:moveTo>
                  <a:pt x="0" y="0"/>
                </a:moveTo>
                <a:lnTo>
                  <a:pt x="6683736" y="0"/>
                </a:lnTo>
                <a:lnTo>
                  <a:pt x="6683736" y="4457217"/>
                </a:lnTo>
                <a:lnTo>
                  <a:pt x="0" y="4457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385645" y="5349014"/>
            <a:ext cx="5702327" cy="4276745"/>
          </a:xfrm>
          <a:custGeom>
            <a:avLst/>
            <a:gdLst/>
            <a:ahLst/>
            <a:cxnLst/>
            <a:rect r="r" b="b" t="t" l="l"/>
            <a:pathLst>
              <a:path h="4276745" w="5702327">
                <a:moveTo>
                  <a:pt x="0" y="0"/>
                </a:moveTo>
                <a:lnTo>
                  <a:pt x="5702327" y="0"/>
                </a:lnTo>
                <a:lnTo>
                  <a:pt x="5702327" y="4276745"/>
                </a:lnTo>
                <a:lnTo>
                  <a:pt x="0" y="42767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51301" y="3322163"/>
            <a:ext cx="3758184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mAP@0.5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34681" y="3322163"/>
            <a:ext cx="3758184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mAP@0.5:0.95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18061" y="3322163"/>
            <a:ext cx="3758184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01441" y="3322163"/>
            <a:ext cx="4142232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Recall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8713" y="2663129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0.9950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34478" y="2654537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0.9666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612143" y="2663129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0.9965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05048" y="2645946"/>
            <a:ext cx="43483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0.9972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Experiments and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475403"/>
            <a:ext cx="7687123" cy="667986"/>
            <a:chOff x="0" y="0"/>
            <a:chExt cx="10249498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9455" cy="890648"/>
            </a:xfrm>
            <a:custGeom>
              <a:avLst/>
              <a:gdLst/>
              <a:ahLst/>
              <a:cxnLst/>
              <a:rect r="r" b="b" t="t" l="l"/>
              <a:pathLst>
                <a:path h="890648" w="10249455">
                  <a:moveTo>
                    <a:pt x="0" y="123317"/>
                  </a:moveTo>
                  <a:cubicBezTo>
                    <a:pt x="0" y="55245"/>
                    <a:pt x="92635" y="0"/>
                    <a:pt x="206778" y="0"/>
                  </a:cubicBezTo>
                  <a:lnTo>
                    <a:pt x="10042677" y="0"/>
                  </a:lnTo>
                  <a:cubicBezTo>
                    <a:pt x="10156820" y="0"/>
                    <a:pt x="10249455" y="55245"/>
                    <a:pt x="10249455" y="123317"/>
                  </a:cubicBezTo>
                  <a:lnTo>
                    <a:pt x="10249455" y="767331"/>
                  </a:lnTo>
                  <a:cubicBezTo>
                    <a:pt x="10249455" y="835403"/>
                    <a:pt x="10156820" y="890648"/>
                    <a:pt x="10042677" y="890648"/>
                  </a:cubicBezTo>
                  <a:lnTo>
                    <a:pt x="206778" y="890648"/>
                  </a:lnTo>
                  <a:cubicBezTo>
                    <a:pt x="9263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249498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4.4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Information-region localization Results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25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2131" y="2400564"/>
            <a:ext cx="3996690" cy="1596390"/>
            <a:chOff x="0" y="0"/>
            <a:chExt cx="5328920" cy="2128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3289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3289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180838" y="0"/>
                  </a:lnTo>
                  <a:cubicBezTo>
                    <a:pt x="5262626" y="0"/>
                    <a:pt x="5328920" y="66294"/>
                    <a:pt x="5328920" y="148082"/>
                  </a:cubicBezTo>
                  <a:lnTo>
                    <a:pt x="5328920" y="1980438"/>
                  </a:lnTo>
                  <a:cubicBezTo>
                    <a:pt x="5328920" y="2062226"/>
                    <a:pt x="5262626" y="2128520"/>
                    <a:pt x="51808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395511" y="2400564"/>
            <a:ext cx="3996690" cy="1596390"/>
            <a:chOff x="0" y="0"/>
            <a:chExt cx="5328920" cy="2128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289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3289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180838" y="0"/>
                  </a:lnTo>
                  <a:cubicBezTo>
                    <a:pt x="5262626" y="0"/>
                    <a:pt x="5328920" y="66294"/>
                    <a:pt x="5328920" y="148082"/>
                  </a:cubicBezTo>
                  <a:lnTo>
                    <a:pt x="5328920" y="1980438"/>
                  </a:lnTo>
                  <a:cubicBezTo>
                    <a:pt x="5328920" y="2062226"/>
                    <a:pt x="5262626" y="2128520"/>
                    <a:pt x="51808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578891" y="2400564"/>
            <a:ext cx="3996690" cy="1596390"/>
            <a:chOff x="0" y="0"/>
            <a:chExt cx="5328920" cy="2128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28920" cy="2128520"/>
            </a:xfrm>
            <a:custGeom>
              <a:avLst/>
              <a:gdLst/>
              <a:ahLst/>
              <a:cxnLst/>
              <a:rect r="r" b="b" t="t" l="l"/>
              <a:pathLst>
                <a:path h="2128520" w="532892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180838" y="0"/>
                  </a:lnTo>
                  <a:cubicBezTo>
                    <a:pt x="5262626" y="0"/>
                    <a:pt x="5328920" y="66294"/>
                    <a:pt x="5328920" y="148082"/>
                  </a:cubicBezTo>
                  <a:lnTo>
                    <a:pt x="5328920" y="1980438"/>
                  </a:lnTo>
                  <a:cubicBezTo>
                    <a:pt x="5328920" y="2062226"/>
                    <a:pt x="5262626" y="2128520"/>
                    <a:pt x="5180838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762271" y="2400564"/>
            <a:ext cx="4380738" cy="1596390"/>
            <a:chOff x="0" y="0"/>
            <a:chExt cx="5840984" cy="2128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40984" cy="2128520"/>
            </a:xfrm>
            <a:custGeom>
              <a:avLst/>
              <a:gdLst/>
              <a:ahLst/>
              <a:cxnLst/>
              <a:rect r="r" b="b" t="t" l="l"/>
              <a:pathLst>
                <a:path h="2128520" w="584098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5692902" y="0"/>
                  </a:lnTo>
                  <a:cubicBezTo>
                    <a:pt x="5774690" y="0"/>
                    <a:pt x="5840984" y="66294"/>
                    <a:pt x="5840984" y="148082"/>
                  </a:cubicBezTo>
                  <a:lnTo>
                    <a:pt x="5840984" y="1980438"/>
                  </a:lnTo>
                  <a:cubicBezTo>
                    <a:pt x="5840984" y="2062226"/>
                    <a:pt x="5774690" y="2128520"/>
                    <a:pt x="5692902" y="2128520"/>
                  </a:cubicBezTo>
                  <a:lnTo>
                    <a:pt x="148082" y="2128520"/>
                  </a:lnTo>
                  <a:cubicBezTo>
                    <a:pt x="66294" y="2128520"/>
                    <a:pt x="0" y="2062226"/>
                    <a:pt x="0" y="198043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6D2E6"/>
              </a:solidFill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21656" y="4254129"/>
            <a:ext cx="5693155" cy="5693155"/>
          </a:xfrm>
          <a:custGeom>
            <a:avLst/>
            <a:gdLst/>
            <a:ahLst/>
            <a:cxnLst/>
            <a:rect r="r" b="b" t="t" l="l"/>
            <a:pathLst>
              <a:path h="5693155" w="5693155">
                <a:moveTo>
                  <a:pt x="0" y="0"/>
                </a:moveTo>
                <a:lnTo>
                  <a:pt x="5693155" y="0"/>
                </a:lnTo>
                <a:lnTo>
                  <a:pt x="5693155" y="5693155"/>
                </a:lnTo>
                <a:lnTo>
                  <a:pt x="0" y="5693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03856" y="4254129"/>
            <a:ext cx="6458415" cy="4306956"/>
          </a:xfrm>
          <a:custGeom>
            <a:avLst/>
            <a:gdLst/>
            <a:ahLst/>
            <a:cxnLst/>
            <a:rect r="r" b="b" t="t" l="l"/>
            <a:pathLst>
              <a:path h="4306956" w="6458415">
                <a:moveTo>
                  <a:pt x="0" y="0"/>
                </a:moveTo>
                <a:lnTo>
                  <a:pt x="6458415" y="0"/>
                </a:lnTo>
                <a:lnTo>
                  <a:pt x="6458415" y="4306956"/>
                </a:lnTo>
                <a:lnTo>
                  <a:pt x="0" y="43069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71130" y="5330454"/>
            <a:ext cx="6071880" cy="4553910"/>
          </a:xfrm>
          <a:custGeom>
            <a:avLst/>
            <a:gdLst/>
            <a:ahLst/>
            <a:cxnLst/>
            <a:rect r="r" b="b" t="t" l="l"/>
            <a:pathLst>
              <a:path h="4553910" w="6071880">
                <a:moveTo>
                  <a:pt x="0" y="0"/>
                </a:moveTo>
                <a:lnTo>
                  <a:pt x="6071879" y="0"/>
                </a:lnTo>
                <a:lnTo>
                  <a:pt x="6071879" y="4553910"/>
                </a:lnTo>
                <a:lnTo>
                  <a:pt x="0" y="4553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31384" y="3286847"/>
            <a:ext cx="3758184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mAP@0.5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14764" y="3286847"/>
            <a:ext cx="3758184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mAP@0.5:0.95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98144" y="3286847"/>
            <a:ext cx="3758184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Precision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81524" y="3286847"/>
            <a:ext cx="4142232" cy="63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>
                <a:solidFill>
                  <a:srgbClr val="8C97A8"/>
                </a:solidFill>
                <a:latin typeface="Calibri (MS)"/>
                <a:ea typeface="Calibri (MS)"/>
                <a:cs typeface="Calibri (MS)"/>
                <a:sym typeface="Calibri (MS)"/>
              </a:rPr>
              <a:t>Recall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1656" y="2636403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0.9790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14561" y="2619220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0.8915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592226" y="2627812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0.9715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85131" y="2610629"/>
            <a:ext cx="397764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236B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0.9524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Experiments and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2010747"/>
            <a:ext cx="8093432" cy="667986"/>
            <a:chOff x="0" y="0"/>
            <a:chExt cx="10791243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1198" cy="890648"/>
            </a:xfrm>
            <a:custGeom>
              <a:avLst/>
              <a:gdLst/>
              <a:ahLst/>
              <a:cxnLst/>
              <a:rect r="r" b="b" t="t" l="l"/>
              <a:pathLst>
                <a:path h="890648" w="10791198">
                  <a:moveTo>
                    <a:pt x="0" y="123317"/>
                  </a:moveTo>
                  <a:cubicBezTo>
                    <a:pt x="0" y="55245"/>
                    <a:pt x="97531" y="0"/>
                    <a:pt x="217707" y="0"/>
                  </a:cubicBezTo>
                  <a:lnTo>
                    <a:pt x="10573490" y="0"/>
                  </a:lnTo>
                  <a:cubicBezTo>
                    <a:pt x="10693667" y="0"/>
                    <a:pt x="10791198" y="55245"/>
                    <a:pt x="10791198" y="123317"/>
                  </a:cubicBezTo>
                  <a:lnTo>
                    <a:pt x="10791198" y="767331"/>
                  </a:lnTo>
                  <a:cubicBezTo>
                    <a:pt x="10791198" y="835403"/>
                    <a:pt x="10693667" y="890648"/>
                    <a:pt x="10573490" y="890648"/>
                  </a:cubicBezTo>
                  <a:lnTo>
                    <a:pt x="217707" y="890648"/>
                  </a:lnTo>
                  <a:cubicBezTo>
                    <a:pt x="975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791243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4.5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Webcam Dimension-Measurement Results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26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4071800" y="2812068"/>
          <a:ext cx="13634787" cy="6841314"/>
        </p:xfrm>
        <a:graphic>
          <a:graphicData uri="http://schemas.openxmlformats.org/drawingml/2006/table">
            <a:tbl>
              <a:tblPr/>
              <a:tblGrid>
                <a:gridCol w="2094903"/>
                <a:gridCol w="1931310"/>
                <a:gridCol w="1931310"/>
                <a:gridCol w="1931310"/>
                <a:gridCol w="1931310"/>
                <a:gridCol w="1931310"/>
                <a:gridCol w="1883333"/>
              </a:tblGrid>
              <a:tr h="11402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Trial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Height factor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Block ratio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 (cm)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 (cm)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 (cm)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Volume error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11402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Reference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0.55·h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32/603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10.24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5.83%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0.55·h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32/605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22.48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4.85%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0.55·h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32/608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30.00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3.31%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02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 (optimal)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0.55·h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32/614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29.71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10.06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218713" y="3012093"/>
            <a:ext cx="3679352" cy="334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selection of the K-factor plays a crucial role; in many cases, while the error on individual edges may be significant, the overall volumetric error is lower than that associated with other K-factors.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18713" y="2812068"/>
            <a:ext cx="3679352" cy="4071348"/>
            <a:chOff x="0" y="0"/>
            <a:chExt cx="5895355" cy="65234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95355" cy="6523428"/>
            </a:xfrm>
            <a:custGeom>
              <a:avLst/>
              <a:gdLst/>
              <a:ahLst/>
              <a:cxnLst/>
              <a:rect r="r" b="b" t="t" l="l"/>
              <a:pathLst>
                <a:path h="6523428" w="5895355">
                  <a:moveTo>
                    <a:pt x="0" y="177055"/>
                  </a:moveTo>
                  <a:cubicBezTo>
                    <a:pt x="0" y="79323"/>
                    <a:pt x="34894" y="0"/>
                    <a:pt x="77885" y="0"/>
                  </a:cubicBezTo>
                  <a:lnTo>
                    <a:pt x="5817470" y="0"/>
                  </a:lnTo>
                  <a:cubicBezTo>
                    <a:pt x="5860461" y="0"/>
                    <a:pt x="5895355" y="79323"/>
                    <a:pt x="5895355" y="177055"/>
                  </a:cubicBezTo>
                  <a:lnTo>
                    <a:pt x="5895355" y="6346373"/>
                  </a:lnTo>
                  <a:cubicBezTo>
                    <a:pt x="5895355" y="6444105"/>
                    <a:pt x="5860461" y="6523428"/>
                    <a:pt x="5817470" y="6523428"/>
                  </a:cubicBezTo>
                  <a:lnTo>
                    <a:pt x="77885" y="6523428"/>
                  </a:lnTo>
                  <a:cubicBezTo>
                    <a:pt x="34894" y="6523428"/>
                    <a:pt x="0" y="6444241"/>
                    <a:pt x="0" y="634637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560" t="0" r="-139842" b="6178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Experiments and Results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18713" y="1589703"/>
            <a:ext cx="8093432" cy="667986"/>
            <a:chOff x="0" y="0"/>
            <a:chExt cx="10791243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1198" cy="890648"/>
            </a:xfrm>
            <a:custGeom>
              <a:avLst/>
              <a:gdLst/>
              <a:ahLst/>
              <a:cxnLst/>
              <a:rect r="r" b="b" t="t" l="l"/>
              <a:pathLst>
                <a:path h="890648" w="10791198">
                  <a:moveTo>
                    <a:pt x="0" y="123317"/>
                  </a:moveTo>
                  <a:cubicBezTo>
                    <a:pt x="0" y="55245"/>
                    <a:pt x="97531" y="0"/>
                    <a:pt x="217707" y="0"/>
                  </a:cubicBezTo>
                  <a:lnTo>
                    <a:pt x="10573490" y="0"/>
                  </a:lnTo>
                  <a:cubicBezTo>
                    <a:pt x="10693667" y="0"/>
                    <a:pt x="10791198" y="55245"/>
                    <a:pt x="10791198" y="123317"/>
                  </a:cubicBezTo>
                  <a:lnTo>
                    <a:pt x="10791198" y="767331"/>
                  </a:lnTo>
                  <a:cubicBezTo>
                    <a:pt x="10791198" y="835403"/>
                    <a:pt x="10693667" y="890648"/>
                    <a:pt x="10573490" y="890648"/>
                  </a:cubicBezTo>
                  <a:lnTo>
                    <a:pt x="217707" y="890648"/>
                  </a:lnTo>
                  <a:cubicBezTo>
                    <a:pt x="97531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791243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4.6 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Ultrasonic Sensor Mesurement Results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27</a:t>
              </a:r>
            </a:p>
          </p:txBody>
        </p:sp>
      </p:grp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574989" y="2371989"/>
          <a:ext cx="14197264" cy="3977243"/>
        </p:xfrm>
        <a:graphic>
          <a:graphicData uri="http://schemas.openxmlformats.org/drawingml/2006/table">
            <a:tbl>
              <a:tblPr/>
              <a:tblGrid>
                <a:gridCol w="2175144"/>
                <a:gridCol w="2401623"/>
                <a:gridCol w="2542894"/>
                <a:gridCol w="3893819"/>
                <a:gridCol w="3183783"/>
              </a:tblGrid>
              <a:tr h="11075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Sensor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MAE before (cm)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MAE (cm)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MAPE (</a:t>
                      </a:r>
                      <a:r>
                        <a:rPr lang="en-US" sz="25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Measurements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9565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HC-SRF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0.9016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.1361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9,700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65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HC-SR04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1.7193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.1628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9,700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65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US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HC-SR04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.7445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.0969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19"/>
                        </a:lnSpc>
                        <a:defRPr/>
                      </a:pPr>
                      <a:r>
                        <a:rPr lang="en-US" sz="2599">
                          <a:solidFill>
                            <a:srgbClr val="232323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9,700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6D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6" id="16"/>
          <p:cNvSpPr txBox="true"/>
          <p:nvPr/>
        </p:nvSpPr>
        <p:spPr>
          <a:xfrm rot="0">
            <a:off x="574989" y="6568308"/>
            <a:ext cx="14197264" cy="337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4797" indent="-297399" lvl="1">
              <a:lnSpc>
                <a:spcPts val="2957"/>
              </a:lnSpc>
              <a:buFont typeface="Arial"/>
              <a:buChar char="•"/>
            </a:pP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sensor was evaluated using 9,700 measurements collected at 97 ground-truth distances.</a:t>
            </a:r>
          </a:p>
          <a:p>
            <a:pPr algn="just" marL="594797" indent="-297399" lvl="1">
              <a:lnSpc>
                <a:spcPts val="2957"/>
              </a:lnSpc>
              <a:buFont typeface="Arial"/>
              <a:buChar char="•"/>
            </a:pP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US1 ac</a:t>
            </a: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hieved the lowest MAE of 0.90 cm and MAPE of 2.14%.</a:t>
            </a:r>
          </a:p>
          <a:p>
            <a:pPr algn="just" marL="594797" indent="-297399" lvl="1">
              <a:lnSpc>
                <a:spcPts val="2957"/>
              </a:lnSpc>
              <a:buFont typeface="Arial"/>
              <a:buChar char="•"/>
            </a:pP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US2 and US3 produced MAEs of 1.72 cm and 1.74 cm, respectively.</a:t>
            </a:r>
          </a:p>
          <a:p>
            <a:pPr algn="just" marL="594797" indent="-297399" lvl="1">
              <a:lnSpc>
                <a:spcPts val="2957"/>
              </a:lnSpc>
              <a:buFont typeface="Arial"/>
              <a:buChar char="•"/>
            </a:pP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US1 was the most accurate sensor in the evaluated setup.</a:t>
            </a:r>
          </a:p>
          <a:p>
            <a:pPr algn="just" marL="594797" indent="-297399" lvl="1">
              <a:lnSpc>
                <a:spcPts val="2957"/>
              </a:lnSpc>
              <a:buFont typeface="Arial"/>
              <a:buChar char="•"/>
            </a:pP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differences may also have been affected by sensor placement, measurement direction, and individual device variation.</a:t>
            </a:r>
          </a:p>
          <a:p>
            <a:pPr algn="just" marL="594797" indent="-297399" lvl="1">
              <a:lnSpc>
                <a:spcPts val="2957"/>
              </a:lnSpc>
              <a:buFont typeface="Arial"/>
              <a:buChar char="•"/>
            </a:pPr>
            <a:r>
              <a:rPr lang="en-US" sz="2464" spc="-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US1 achieved the lowest measurement error, which aligns with the higher specified accuracy of the HC-SRF05 sensor than the others.</a:t>
            </a:r>
          </a:p>
          <a:p>
            <a:pPr algn="just">
              <a:lnSpc>
                <a:spcPts val="2957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and Future 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610668"/>
            <a:ext cx="3123162" cy="667988"/>
            <a:chOff x="0" y="0"/>
            <a:chExt cx="4164216" cy="8906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64203" cy="890651"/>
            </a:xfrm>
            <a:custGeom>
              <a:avLst/>
              <a:gdLst/>
              <a:ahLst/>
              <a:cxnLst/>
              <a:rect r="r" b="b" t="t" l="l"/>
              <a:pathLst>
                <a:path h="890651" w="4164203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4040886" y="0"/>
                  </a:lnTo>
                  <a:cubicBezTo>
                    <a:pt x="4108958" y="0"/>
                    <a:pt x="4164203" y="55245"/>
                    <a:pt x="4164203" y="123317"/>
                  </a:cubicBezTo>
                  <a:lnTo>
                    <a:pt x="4164203" y="767334"/>
                  </a:lnTo>
                  <a:cubicBezTo>
                    <a:pt x="4164203" y="835406"/>
                    <a:pt x="4108958" y="890651"/>
                    <a:pt x="4040886" y="890651"/>
                  </a:cubicBezTo>
                  <a:lnTo>
                    <a:pt x="123317" y="890651"/>
                  </a:lnTo>
                  <a:cubicBezTo>
                    <a:pt x="55245" y="890651"/>
                    <a:pt x="0" y="835406"/>
                    <a:pt x="0" y="767334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164216" cy="90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5.1 Key Finding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73584" y="2438552"/>
            <a:ext cx="10247433" cy="4512069"/>
            <a:chOff x="0" y="0"/>
            <a:chExt cx="13663244" cy="6016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63295" cy="6016117"/>
            </a:xfrm>
            <a:custGeom>
              <a:avLst/>
              <a:gdLst/>
              <a:ahLst/>
              <a:cxnLst/>
              <a:rect r="r" b="b" t="t" l="l"/>
              <a:pathLst>
                <a:path h="6016117" w="13663295">
                  <a:moveTo>
                    <a:pt x="0" y="0"/>
                  </a:moveTo>
                  <a:lnTo>
                    <a:pt x="13663295" y="0"/>
                  </a:lnTo>
                  <a:lnTo>
                    <a:pt x="13663295" y="6016117"/>
                  </a:lnTo>
                  <a:lnTo>
                    <a:pt x="0" y="6016117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493" t="0" r="-6493" b="0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592513" y="2797397"/>
            <a:ext cx="8677268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 spc="-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multi-stage pipeline (classify → localize → detect → recognize → normalize) enables automated processing of handwritten Vietnamese postal labels.</a:t>
            </a:r>
          </a:p>
          <a:p>
            <a:pPr algn="just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 spc="-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four detection models (classification, localization, digit reading, parcel/person/hand detection) achieved mAP50 above 88%, confirming YOLO fine-tuning is viable for postal-specific tasks.</a:t>
            </a:r>
          </a:p>
          <a:p>
            <a:pPr algn="just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 spc="-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TrOCR on Vietnamese handwriting data sharply reduced error rates (CER 72.5%→5.39%, WER 106.95%→14.99%).</a:t>
            </a:r>
          </a:p>
          <a:p>
            <a:pPr algn="just" marL="530859" indent="-265430" lvl="1">
              <a:lnSpc>
                <a:spcPts val="2639"/>
              </a:lnSpc>
              <a:buFont typeface="Arial"/>
              <a:buChar char="•"/>
            </a:pPr>
            <a:r>
              <a:rPr lang="en-US" sz="2199" spc="-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Ultrasonic sensor calibration via linear regression cut measurement error by ~75% (CB1: MAE 0.91cm → 0.23cm).</a:t>
            </a:r>
          </a:p>
          <a:p>
            <a:pPr algn="just">
              <a:lnSpc>
                <a:spcPts val="263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10935824" y="2457345"/>
            <a:ext cx="7072661" cy="4474483"/>
            <a:chOff x="0" y="0"/>
            <a:chExt cx="9430215" cy="596597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30189" cy="5965952"/>
            </a:xfrm>
            <a:custGeom>
              <a:avLst/>
              <a:gdLst/>
              <a:ahLst/>
              <a:cxnLst/>
              <a:rect r="r" b="b" t="t" l="l"/>
              <a:pathLst>
                <a:path h="5965952" w="9430189">
                  <a:moveTo>
                    <a:pt x="0" y="0"/>
                  </a:moveTo>
                  <a:lnTo>
                    <a:pt x="9430189" y="0"/>
                  </a:lnTo>
                  <a:lnTo>
                    <a:pt x="9430189" y="5965952"/>
                  </a:lnTo>
                  <a:lnTo>
                    <a:pt x="0" y="5965952"/>
                  </a:lnTo>
                </a:path>
              </a:pathLst>
            </a:custGeom>
            <a:solidFill>
              <a:srgbClr val="FEF7E2"/>
            </a:solidFill>
            <a:ln w="38100" cap="sq">
              <a:solidFill>
                <a:srgbClr val="F9DFB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09179" y="7385799"/>
            <a:ext cx="17658378" cy="2670572"/>
            <a:chOff x="0" y="0"/>
            <a:chExt cx="23544505" cy="35607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544530" cy="3560826"/>
            </a:xfrm>
            <a:custGeom>
              <a:avLst/>
              <a:gdLst/>
              <a:ahLst/>
              <a:cxnLst/>
              <a:rect r="r" b="b" t="t" l="l"/>
              <a:pathLst>
                <a:path h="3560826" w="23544530">
                  <a:moveTo>
                    <a:pt x="0" y="0"/>
                  </a:moveTo>
                  <a:lnTo>
                    <a:pt x="23544530" y="0"/>
                  </a:lnTo>
                  <a:lnTo>
                    <a:pt x="23544530" y="3560826"/>
                  </a:lnTo>
                  <a:lnTo>
                    <a:pt x="0" y="3560826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78837" r="0" b="-78835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54874" y="1610668"/>
            <a:ext cx="3123162" cy="667988"/>
            <a:chOff x="0" y="0"/>
            <a:chExt cx="4164216" cy="8906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64203" cy="890651"/>
            </a:xfrm>
            <a:custGeom>
              <a:avLst/>
              <a:gdLst/>
              <a:ahLst/>
              <a:cxnLst/>
              <a:rect r="r" b="b" t="t" l="l"/>
              <a:pathLst>
                <a:path h="890651" w="4164203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4040886" y="0"/>
                  </a:lnTo>
                  <a:cubicBezTo>
                    <a:pt x="4108958" y="0"/>
                    <a:pt x="4164203" y="55245"/>
                    <a:pt x="4164203" y="123317"/>
                  </a:cubicBezTo>
                  <a:lnTo>
                    <a:pt x="4164203" y="767334"/>
                  </a:lnTo>
                  <a:cubicBezTo>
                    <a:pt x="4164203" y="835406"/>
                    <a:pt x="4108958" y="890651"/>
                    <a:pt x="4040886" y="890651"/>
                  </a:cubicBezTo>
                  <a:lnTo>
                    <a:pt x="123317" y="890651"/>
                  </a:lnTo>
                  <a:cubicBezTo>
                    <a:pt x="55245" y="890651"/>
                    <a:pt x="0" y="835406"/>
                    <a:pt x="0" y="767334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164216" cy="90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5.2 Limitation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875551" y="3566903"/>
            <a:ext cx="6967488" cy="284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8941" indent="-224471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nd-to-end OCR accuracy (including block merging +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API norm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ion) not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on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larg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-scale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rld data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marL="448941" indent="-224471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Digit-me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rg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tep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the di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mod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still incomplete, blocking full end-to-end operation.</a:t>
            </a:r>
          </a:p>
          <a:p>
            <a:pPr algn="just" marL="448941" indent="-224471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Three-sensor ultrasonic cluster re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ull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dwa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assembly 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lid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ion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 marL="448941" indent="-224471" lvl="1">
              <a:lnSpc>
                <a:spcPts val="2232"/>
              </a:lnSpc>
              <a:buFont typeface="Arial"/>
              <a:buChar char="•"/>
            </a:pP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Webcam-based measurement depends on auxiliary model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(per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on/h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removal) to reduce 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b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edge detection</a:t>
            </a:r>
            <a:r>
              <a:rPr lang="en-US" sz="18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just">
              <a:lnSpc>
                <a:spcPts val="2232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0954874" y="2681078"/>
            <a:ext cx="806825" cy="806825"/>
            <a:chOff x="0" y="0"/>
            <a:chExt cx="1075766" cy="1075766"/>
          </a:xfrm>
        </p:grpSpPr>
        <p:sp>
          <p:nvSpPr>
            <p:cNvPr name="Freeform 24" id="24" descr="Cảnh báo - Biểu tượng cảm xúc vector miễn phí trên creazilla.com"/>
            <p:cNvSpPr/>
            <p:nvPr/>
          </p:nvSpPr>
          <p:spPr>
            <a:xfrm flipH="false" flipV="false" rot="0">
              <a:off x="0" y="0"/>
              <a:ext cx="1075817" cy="1075817"/>
            </a:xfrm>
            <a:custGeom>
              <a:avLst/>
              <a:gdLst/>
              <a:ahLst/>
              <a:cxnLst/>
              <a:rect r="r" b="b" t="t" l="l"/>
              <a:pathLst>
                <a:path h="1075817" w="1075817">
                  <a:moveTo>
                    <a:pt x="0" y="0"/>
                  </a:moveTo>
                  <a:lnTo>
                    <a:pt x="1075817" y="0"/>
                  </a:lnTo>
                  <a:lnTo>
                    <a:pt x="1075817" y="1075817"/>
                  </a:lnTo>
                  <a:lnTo>
                    <a:pt x="0" y="1075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12115" y="7110517"/>
            <a:ext cx="3307756" cy="667988"/>
            <a:chOff x="0" y="0"/>
            <a:chExt cx="4410342" cy="89065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10329" cy="890651"/>
            </a:xfrm>
            <a:custGeom>
              <a:avLst/>
              <a:gdLst/>
              <a:ahLst/>
              <a:cxnLst/>
              <a:rect r="r" b="b" t="t" l="l"/>
              <a:pathLst>
                <a:path h="890651" w="4410329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4287012" y="0"/>
                  </a:lnTo>
                  <a:cubicBezTo>
                    <a:pt x="4355084" y="0"/>
                    <a:pt x="4410329" y="55245"/>
                    <a:pt x="4410329" y="123317"/>
                  </a:cubicBezTo>
                  <a:lnTo>
                    <a:pt x="4410329" y="767334"/>
                  </a:lnTo>
                  <a:cubicBezTo>
                    <a:pt x="4410329" y="835406"/>
                    <a:pt x="4355084" y="890651"/>
                    <a:pt x="4287012" y="890651"/>
                  </a:cubicBezTo>
                  <a:lnTo>
                    <a:pt x="123317" y="890651"/>
                  </a:lnTo>
                  <a:cubicBezTo>
                    <a:pt x="55245" y="890651"/>
                    <a:pt x="0" y="835406"/>
                    <a:pt x="0" y="767334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410342" cy="9097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5.3 Future works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51240" y="4762386"/>
            <a:ext cx="914400" cy="914400"/>
            <a:chOff x="0" y="0"/>
            <a:chExt cx="121920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51240" y="580303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51240" y="3721732"/>
            <a:ext cx="914400" cy="914400"/>
            <a:chOff x="0" y="0"/>
            <a:chExt cx="1219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51240" y="2681078"/>
            <a:ext cx="914400" cy="914400"/>
            <a:chOff x="0" y="0"/>
            <a:chExt cx="12192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75548" y="7930220"/>
            <a:ext cx="5349773" cy="2126151"/>
            <a:chOff x="0" y="0"/>
            <a:chExt cx="7133031" cy="28348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33082" cy="2834800"/>
            </a:xfrm>
            <a:custGeom>
              <a:avLst/>
              <a:gdLst/>
              <a:ahLst/>
              <a:cxnLst/>
              <a:rect r="r" b="b" t="t" l="l"/>
              <a:pathLst>
                <a:path h="2834800" w="7133082">
                  <a:moveTo>
                    <a:pt x="0" y="0"/>
                  </a:moveTo>
                  <a:lnTo>
                    <a:pt x="7133082" y="0"/>
                  </a:lnTo>
                  <a:lnTo>
                    <a:pt x="7133082" y="2834800"/>
                  </a:lnTo>
                  <a:lnTo>
                    <a:pt x="0" y="2834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793" r="0" b="4735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7133031" cy="2853919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plete Digit Merging</a:t>
              </a:r>
            </a:p>
            <a:p>
              <a:pPr algn="l" marL="474979" indent="-237490" lvl="1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</a:t>
              </a:r>
              <a:r>
                <a:rPr lang="en-US" sz="21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nish the digit-to-value merging logic for the digital scale module to enable full end-to-end weight reading.</a:t>
              </a:r>
            </a:p>
            <a:p>
              <a:pPr algn="l" marL="530859" indent="-265430" lvl="1">
                <a:lnSpc>
                  <a:spcPts val="263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76330" y="7680795"/>
            <a:ext cx="5185368" cy="2375576"/>
            <a:chOff x="0" y="0"/>
            <a:chExt cx="6913825" cy="31674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13875" cy="3167358"/>
            </a:xfrm>
            <a:custGeom>
              <a:avLst/>
              <a:gdLst/>
              <a:ahLst/>
              <a:cxnLst/>
              <a:rect r="r" b="b" t="t" l="l"/>
              <a:pathLst>
                <a:path h="3167358" w="6913875">
                  <a:moveTo>
                    <a:pt x="0" y="0"/>
                  </a:moveTo>
                  <a:lnTo>
                    <a:pt x="6913875" y="0"/>
                  </a:lnTo>
                  <a:lnTo>
                    <a:pt x="6913875" y="3167358"/>
                  </a:lnTo>
                  <a:lnTo>
                    <a:pt x="0" y="3167358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500" r="-3169" b="14738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913825" cy="318648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Val</a:t>
              </a: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idate Ultrasonic Hardware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Assemble the com</a:t>
              </a:r>
              <a:r>
                <a:rPr lang="en-US" sz="2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plete three-sensor cluster and run real-world tests to compare against the webcam-based method.</a:t>
              </a:r>
            </a:p>
            <a:p>
              <a:pPr algn="just">
                <a:lnSpc>
                  <a:spcPts val="263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09399" y="8014170"/>
            <a:ext cx="5349773" cy="2042201"/>
            <a:chOff x="0" y="0"/>
            <a:chExt cx="7133031" cy="272293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133082" cy="2722869"/>
            </a:xfrm>
            <a:custGeom>
              <a:avLst/>
              <a:gdLst/>
              <a:ahLst/>
              <a:cxnLst/>
              <a:rect r="r" b="b" t="t" l="l"/>
              <a:pathLst>
                <a:path h="2722869" w="7133082">
                  <a:moveTo>
                    <a:pt x="0" y="0"/>
                  </a:moveTo>
                  <a:lnTo>
                    <a:pt x="7133082" y="0"/>
                  </a:lnTo>
                  <a:lnTo>
                    <a:pt x="7133082" y="2722869"/>
                  </a:lnTo>
                  <a:lnTo>
                    <a:pt x="0" y="2722869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2908" r="0" b="819"/>
              </a:stretch>
            </a:blipFill>
            <a:ln w="38100" cap="sq">
              <a:solidFill>
                <a:srgbClr val="AFBAD3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7133031" cy="27419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Improve Data Coverage</a:t>
              </a:r>
            </a:p>
            <a:p>
              <a:pPr algn="l" marL="474983" indent="-237491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Expand training data for information-region localization (lowest mAP50-95) and test on more diverse real-world postal labels.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28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3600">
            <a:off x="-9535" y="1343558"/>
            <a:ext cx="18307060" cy="0"/>
          </a:xfrm>
          <a:prstGeom prst="line">
            <a:avLst/>
          </a:prstGeom>
          <a:ln cap="rnd" w="9525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18713" y="113319"/>
            <a:ext cx="1109262" cy="1109262"/>
            <a:chOff x="0" y="0"/>
            <a:chExt cx="1479017" cy="14790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79042" cy="1479042"/>
            </a:xfrm>
            <a:custGeom>
              <a:avLst/>
              <a:gdLst/>
              <a:ahLst/>
              <a:cxnLst/>
              <a:rect r="r" b="b" t="t" l="l"/>
              <a:pathLst>
                <a:path h="1479042" w="1479042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372997" y="0"/>
                  </a:lnTo>
                  <a:cubicBezTo>
                    <a:pt x="1431544" y="0"/>
                    <a:pt x="1479042" y="47498"/>
                    <a:pt x="1479042" y="106045"/>
                  </a:cubicBezTo>
                  <a:lnTo>
                    <a:pt x="1479042" y="1372997"/>
                  </a:lnTo>
                  <a:cubicBezTo>
                    <a:pt x="1479042" y="1431544"/>
                    <a:pt x="1431544" y="1479042"/>
                    <a:pt x="1372997" y="1479042"/>
                  </a:cubicBezTo>
                  <a:lnTo>
                    <a:pt x="106045" y="1479042"/>
                  </a:lnTo>
                  <a:cubicBezTo>
                    <a:pt x="47498" y="1479042"/>
                    <a:pt x="0" y="1431544"/>
                    <a:pt x="0" y="1372997"/>
                  </a:cubicBezTo>
                  <a:close/>
                </a:path>
              </a:pathLst>
            </a:custGeom>
            <a:solidFill>
              <a:srgbClr val="003677"/>
            </a:solidFill>
            <a:ln w="19050" cap="sq">
              <a:solidFill>
                <a:srgbClr val="003677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479017" cy="1488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b="true" sz="3999">
                  <a:solidFill>
                    <a:srgbClr val="F0F0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0721" y="84982"/>
            <a:ext cx="14896414" cy="1390421"/>
            <a:chOff x="0" y="0"/>
            <a:chExt cx="19861886" cy="18538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61882" cy="1853899"/>
            </a:xfrm>
            <a:custGeom>
              <a:avLst/>
              <a:gdLst/>
              <a:ahLst/>
              <a:cxnLst/>
              <a:rect r="r" b="b" t="t" l="l"/>
              <a:pathLst>
                <a:path h="1853899" w="19861882">
                  <a:moveTo>
                    <a:pt x="0" y="0"/>
                  </a:moveTo>
                  <a:lnTo>
                    <a:pt x="19861882" y="0"/>
                  </a:lnTo>
                  <a:lnTo>
                    <a:pt x="19861882" y="1853899"/>
                  </a:lnTo>
                  <a:lnTo>
                    <a:pt x="0" y="18538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754" r="0" b="-1587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133350"/>
              <a:ext cx="19861886" cy="17205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and Future 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28238" y="1610668"/>
            <a:ext cx="2072049" cy="667986"/>
            <a:chOff x="0" y="0"/>
            <a:chExt cx="2762733" cy="8906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2758" cy="890648"/>
            </a:xfrm>
            <a:custGeom>
              <a:avLst/>
              <a:gdLst/>
              <a:ahLst/>
              <a:cxnLst/>
              <a:rect r="r" b="b" t="t" l="l"/>
              <a:pathLst>
                <a:path h="890648" w="2762758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2639441" y="0"/>
                  </a:lnTo>
                  <a:cubicBezTo>
                    <a:pt x="2707513" y="0"/>
                    <a:pt x="2762758" y="55245"/>
                    <a:pt x="2762758" y="123317"/>
                  </a:cubicBezTo>
                  <a:lnTo>
                    <a:pt x="2762758" y="767331"/>
                  </a:lnTo>
                  <a:cubicBezTo>
                    <a:pt x="2762758" y="835403"/>
                    <a:pt x="2707513" y="890648"/>
                    <a:pt x="2639441" y="890648"/>
                  </a:cubicBezTo>
                  <a:lnTo>
                    <a:pt x="123317" y="890648"/>
                  </a:lnTo>
                  <a:cubicBezTo>
                    <a:pt x="55245" y="890648"/>
                    <a:pt x="0" y="835403"/>
                    <a:pt x="0" y="767331"/>
                  </a:cubicBezTo>
                  <a:close/>
                </a:path>
              </a:pathLst>
            </a:custGeom>
            <a:solidFill>
              <a:srgbClr val="DCE4F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762733" cy="909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5.4 Demo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677570" y="0"/>
            <a:ext cx="9165469" cy="1348322"/>
            <a:chOff x="0" y="0"/>
            <a:chExt cx="12220626" cy="179776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20629" cy="1797764"/>
            </a:xfrm>
            <a:custGeom>
              <a:avLst/>
              <a:gdLst/>
              <a:ahLst/>
              <a:cxnLst/>
              <a:rect r="r" b="b" t="t" l="l"/>
              <a:pathLst>
                <a:path h="1797764" w="12220629">
                  <a:moveTo>
                    <a:pt x="0" y="0"/>
                  </a:moveTo>
                  <a:lnTo>
                    <a:pt x="12220629" y="0"/>
                  </a:lnTo>
                  <a:lnTo>
                    <a:pt x="12220629" y="1797764"/>
                  </a:lnTo>
                  <a:lnTo>
                    <a:pt x="0" y="1797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453" r="0" b="-824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76200"/>
              <a:ext cx="12220626" cy="1721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839"/>
                </a:lnSpc>
              </a:pPr>
              <a:r>
                <a:rPr lang="en-US" sz="3999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29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78763" y="6004971"/>
            <a:ext cx="6831318" cy="3777794"/>
          </a:xfrm>
          <a:custGeom>
            <a:avLst/>
            <a:gdLst/>
            <a:ahLst/>
            <a:cxnLst/>
            <a:rect r="r" b="b" t="t" l="l"/>
            <a:pathLst>
              <a:path h="3777794" w="6831318">
                <a:moveTo>
                  <a:pt x="0" y="0"/>
                </a:moveTo>
                <a:lnTo>
                  <a:pt x="6831318" y="0"/>
                </a:lnTo>
                <a:lnTo>
                  <a:pt x="6831318" y="3777794"/>
                </a:lnTo>
                <a:lnTo>
                  <a:pt x="0" y="3777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878763" y="1610668"/>
            <a:ext cx="6831318" cy="3773985"/>
          </a:xfrm>
          <a:custGeom>
            <a:avLst/>
            <a:gdLst/>
            <a:ahLst/>
            <a:cxnLst/>
            <a:rect r="r" b="b" t="t" l="l"/>
            <a:pathLst>
              <a:path h="3773985" w="6831318">
                <a:moveTo>
                  <a:pt x="0" y="0"/>
                </a:moveTo>
                <a:lnTo>
                  <a:pt x="6831318" y="0"/>
                </a:lnTo>
                <a:lnTo>
                  <a:pt x="6831318" y="3773985"/>
                </a:lnTo>
                <a:lnTo>
                  <a:pt x="0" y="37739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891583" y="1591618"/>
            <a:ext cx="5488975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 tooltip="https://drive.google.com/file/d/1yDVBgG-wzBc2yyfo4_nTqC1iMMVrmL3X/view?usp=drive_link"/>
              </a:rPr>
              <a:t>Automated postal system using multiple cameras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1583" y="5985921"/>
            <a:ext cx="587782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sz="31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 tooltip="https://drive.google.com/file/d/1aIfSUaA24AXP_08xhlZ3bRxGGOMzlYro/view?usp=drive_link"/>
              </a:rPr>
              <a:t>Automated postal system using multiple ultras</a:t>
            </a:r>
            <a:r>
              <a:rPr lang="en-US" sz="31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 tooltip="https://drive.google.com/file/d/1aIfSUaA24AXP_08xhlZ3bRxGGOMzlYro/view?usp=drive_link"/>
              </a:rPr>
              <a:t>onic sensors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1122" y="317449"/>
            <a:ext cx="2945756" cy="1147858"/>
            <a:chOff x="0" y="0"/>
            <a:chExt cx="3112872" cy="12129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2897" cy="1212977"/>
            </a:xfrm>
            <a:custGeom>
              <a:avLst/>
              <a:gdLst/>
              <a:ahLst/>
              <a:cxnLst/>
              <a:rect r="r" b="b" t="t" l="l"/>
              <a:pathLst>
                <a:path h="1212977" w="3112897">
                  <a:moveTo>
                    <a:pt x="0" y="0"/>
                  </a:moveTo>
                  <a:lnTo>
                    <a:pt x="3112897" y="0"/>
                  </a:lnTo>
                  <a:lnTo>
                    <a:pt x="3112897" y="1212977"/>
                  </a:lnTo>
                  <a:lnTo>
                    <a:pt x="0" y="121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7140">
            <a:off x="-19069" y="1608163"/>
            <a:ext cx="18326138" cy="0"/>
          </a:xfrm>
          <a:prstGeom prst="line">
            <a:avLst/>
          </a:prstGeom>
          <a:ln cap="rnd" w="19050">
            <a:solidFill>
              <a:srgbClr val="00367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927831" y="3922605"/>
            <a:ext cx="14432337" cy="1113996"/>
            <a:chOff x="0" y="0"/>
            <a:chExt cx="19243116" cy="14853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43120" cy="1485323"/>
            </a:xfrm>
            <a:custGeom>
              <a:avLst/>
              <a:gdLst/>
              <a:ahLst/>
              <a:cxnLst/>
              <a:rect r="r" b="b" t="t" l="l"/>
              <a:pathLst>
                <a:path h="1485323" w="19243120">
                  <a:moveTo>
                    <a:pt x="0" y="0"/>
                  </a:moveTo>
                  <a:lnTo>
                    <a:pt x="19243120" y="0"/>
                  </a:lnTo>
                  <a:lnTo>
                    <a:pt x="19243120" y="1485323"/>
                  </a:lnTo>
                  <a:lnTo>
                    <a:pt x="0" y="148532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438" r="0" b="-2024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200025"/>
              <a:ext cx="19243116" cy="1285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368"/>
                </a:lnSpc>
              </a:pPr>
              <a:r>
                <a:rPr lang="en-US" sz="10800" b="true">
                  <a:solidFill>
                    <a:srgbClr val="012C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You!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40199" y="5257714"/>
            <a:ext cx="12288345" cy="110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12C71"/>
                </a:solidFill>
                <a:latin typeface="Arial"/>
                <a:ea typeface="Arial"/>
                <a:cs typeface="Arial"/>
                <a:sym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DAHT0pXpcSY</dc:identifier>
  <dcterms:modified xsi:type="dcterms:W3CDTF">2011-08-01T06:04:30Z</dcterms:modified>
  <cp:revision>1</cp:revision>
  <dc:title>Presentation_Final</dc:title>
</cp:coreProperties>
</file>